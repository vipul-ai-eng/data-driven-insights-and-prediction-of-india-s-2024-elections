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laypen Sans" charset="1" panose="00000000000000000000"/>
      <p:regular r:id="rId27"/>
    </p:embeddedFont>
    <p:embeddedFont>
      <p:font typeface="Playpen Sans Bold" charset="1" panose="00000000000000000000"/>
      <p:regular r:id="rId28"/>
    </p:embeddedFont>
    <p:embeddedFont>
      <p:font typeface="Finger Paint" charset="1" panose="020B05060400000200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http://data.gov.in" TargetMode="External" Type="http://schemas.openxmlformats.org/officeDocument/2006/relationships/hyperlink"/><Relationship Id="rId6" Target="http://myneta.info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0" t="-7080" r="0" b="-708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259300" y="282122"/>
            <a:ext cx="765098" cy="1073408"/>
          </a:xfrm>
          <a:custGeom>
            <a:avLst/>
            <a:gdLst/>
            <a:ahLst/>
            <a:cxnLst/>
            <a:rect r="r" b="b" t="t" l="l"/>
            <a:pathLst>
              <a:path h="1073408" w="765098">
                <a:moveTo>
                  <a:pt x="0" y="0"/>
                </a:moveTo>
                <a:lnTo>
                  <a:pt x="765098" y="0"/>
                </a:lnTo>
                <a:lnTo>
                  <a:pt x="765098" y="1073408"/>
                </a:lnTo>
                <a:lnTo>
                  <a:pt x="0" y="10734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7000"/>
            </a:blip>
            <a:stretch>
              <a:fillRect l="-269" t="0" r="-26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9283" y="3228899"/>
            <a:ext cx="15505918" cy="1914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9"/>
              </a:lnSpc>
            </a:pPr>
            <a:r>
              <a:rPr lang="en-US" sz="5758" spc="-328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DATA-DRIVEN INSIGHTS AND PREDICTION OF INDIA’S 2024 ELECTIONS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01740" y="5964676"/>
            <a:ext cx="12284520" cy="197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5"/>
              </a:lnSpc>
            </a:pPr>
            <a:r>
              <a:rPr lang="en-US" sz="2943" spc="-16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Team Member : Vipul Kumar (Roll no. - 2025MS029)</a:t>
            </a:r>
          </a:p>
          <a:p>
            <a:pPr algn="ctr">
              <a:lnSpc>
                <a:spcPts val="3916"/>
              </a:lnSpc>
            </a:pPr>
            <a:r>
              <a:rPr lang="en-US" sz="2944" spc="-166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Timeline : october 2025-december 2025</a:t>
            </a:r>
          </a:p>
          <a:p>
            <a:pPr algn="ctr">
              <a:lnSpc>
                <a:spcPts val="3916"/>
              </a:lnSpc>
            </a:pPr>
            <a:r>
              <a:rPr lang="en-US" sz="2944" spc="-166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Program: MS (AI-DS), Department of Engineering Sciences</a:t>
            </a:r>
          </a:p>
          <a:p>
            <a:pPr algn="ctr">
              <a:lnSpc>
                <a:spcPts val="3916"/>
              </a:lnSpc>
            </a:pPr>
            <a:r>
              <a:rPr lang="en-US" sz="2944" spc="-166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Course Instructor: Dr. Yashwant Singh Patel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03689" y="0"/>
            <a:ext cx="7706174" cy="10619666"/>
          </a:xfrm>
          <a:custGeom>
            <a:avLst/>
            <a:gdLst/>
            <a:ahLst/>
            <a:cxnLst/>
            <a:rect r="r" b="b" t="t" l="l"/>
            <a:pathLst>
              <a:path h="10619666" w="7706174">
                <a:moveTo>
                  <a:pt x="0" y="0"/>
                </a:moveTo>
                <a:lnTo>
                  <a:pt x="7706174" y="0"/>
                </a:lnTo>
                <a:lnTo>
                  <a:pt x="7706174" y="10619666"/>
                </a:lnTo>
                <a:lnTo>
                  <a:pt x="0" y="10619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000"/>
            </a:blip>
            <a:stretch>
              <a:fillRect l="-78825" t="0" r="-6634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609751"/>
            <a:ext cx="11585509" cy="605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6676" indent="-278892" lvl="2">
              <a:lnSpc>
                <a:spcPts val="4941"/>
              </a:lnSpc>
              <a:buAutoNum type="arabicPeriod" startAt="1"/>
            </a:pPr>
            <a:r>
              <a:rPr lang="en-US" b="true" sz="3659" spc="215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World's la</a:t>
            </a:r>
            <a:r>
              <a:rPr lang="en-US" b="true" sz="3659" spc="215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rgest democracy challenge - </a:t>
            </a:r>
            <a:r>
              <a:rPr lang="en-US" sz="3659" spc="21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Understanding voter behavior patterns across 543 constituencies with 969 million voters for democratic transparency.</a:t>
            </a:r>
          </a:p>
          <a:p>
            <a:pPr algn="l" marL="836769" indent="-278923" lvl="2">
              <a:lnSpc>
                <a:spcPts val="4941"/>
              </a:lnSpc>
              <a:buAutoNum type="arabicPeriod" startAt="1"/>
            </a:pPr>
            <a:r>
              <a:rPr lang="en-US" b="true" sz="3659" spc="218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Predict Indian election(Lok Sabha) winners using </a:t>
            </a:r>
            <a:r>
              <a:rPr lang="en-US" sz="3659" spc="218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candidate background data (criminal cases, assets, education) through machine learning.</a:t>
            </a:r>
          </a:p>
          <a:p>
            <a:pPr algn="l" marL="836769" indent="-278923" lvl="2">
              <a:lnSpc>
                <a:spcPts val="293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75048" y="914400"/>
            <a:ext cx="7675625" cy="107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2"/>
              </a:lnSpc>
            </a:pPr>
            <a:r>
              <a:rPr lang="en-US" sz="6722" spc="-383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0" t="-7080" r="0" b="-708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35244" y="1187908"/>
            <a:ext cx="16737465" cy="909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Key Papers:</a:t>
            </a:r>
          </a:p>
          <a:p>
            <a:pPr algn="l">
              <a:lnSpc>
                <a:spcPts val="3656"/>
              </a:lnSpc>
            </a:pP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1. </a:t>
            </a:r>
            <a:r>
              <a:rPr lang="en-US" b="true" sz="2708" spc="161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Meneghetti et al. (2023</a:t>
            </a: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): "Predicting party switching through machine learning and open data"</a:t>
            </a:r>
          </a:p>
          <a:p>
            <a:pPr algn="l" marL="619204" indent="-206401" lvl="2">
              <a:lnSpc>
                <a:spcPts val="3656"/>
              </a:lnSpc>
              <a:buFont typeface="Arial"/>
              <a:buChar char="⚬"/>
            </a:pP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Finding: 73.3% accuracy predicting political behavior using voting patterns.</a:t>
            </a:r>
          </a:p>
          <a:p>
            <a:pPr algn="l" marL="619204" indent="-206401" lvl="2">
              <a:lnSpc>
                <a:spcPts val="3656"/>
              </a:lnSpc>
              <a:buFont typeface="Arial"/>
              <a:buChar char="⚬"/>
            </a:pP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Relevance: Demonstrates ML can predict electoral dynamics from candidate features.</a:t>
            </a:r>
          </a:p>
          <a:p>
            <a:pPr algn="l" marL="619204" indent="-206401" lvl="2">
              <a:lnSpc>
                <a:spcPts val="3656"/>
              </a:lnSpc>
            </a:pPr>
          </a:p>
          <a:p>
            <a:pPr algn="l">
              <a:lnSpc>
                <a:spcPts val="3656"/>
              </a:lnSpc>
            </a:pP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2. </a:t>
            </a:r>
            <a:r>
              <a:rPr lang="en-US" b="true" sz="2708" spc="161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Graefe (2014</a:t>
            </a: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): Vote expectation surveys analysis (1932-2012)</a:t>
            </a:r>
          </a:p>
          <a:p>
            <a:pPr algn="l" marL="619204" indent="-206401" lvl="2">
              <a:lnSpc>
                <a:spcPts val="3656"/>
              </a:lnSpc>
              <a:buFont typeface="Arial"/>
              <a:buChar char="⚬"/>
            </a:pP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Finding: 89% accuracy, 51% better than traditional polls.</a:t>
            </a:r>
          </a:p>
          <a:p>
            <a:pPr algn="l" marL="619204" indent="-206401" lvl="2">
              <a:lnSpc>
                <a:spcPts val="3656"/>
              </a:lnSpc>
              <a:buFont typeface="Arial"/>
              <a:buChar char="⚬"/>
            </a:pP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Relevance: Establishes benchmark for election prediction accuracy.</a:t>
            </a:r>
          </a:p>
          <a:p>
            <a:pPr algn="l" marL="619204" indent="-206401" lvl="2">
              <a:lnSpc>
                <a:spcPts val="3656"/>
              </a:lnSpc>
            </a:pPr>
          </a:p>
          <a:p>
            <a:pPr algn="l">
              <a:lnSpc>
                <a:spcPts val="3656"/>
              </a:lnSpc>
            </a:pP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3. </a:t>
            </a:r>
            <a:r>
              <a:rPr lang="en-US" b="true" sz="2708" spc="161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Indian Twitter Study (2024)</a:t>
            </a: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: Social media analysis for Indian elections</a:t>
            </a:r>
          </a:p>
          <a:p>
            <a:pPr algn="l" marL="619204" indent="-206401" lvl="2">
              <a:lnSpc>
                <a:spcPts val="3656"/>
              </a:lnSpc>
              <a:buFont typeface="Arial"/>
              <a:buChar char="⚬"/>
            </a:pP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Finding: 86.3% accuracy predicting winner using ML models.</a:t>
            </a:r>
          </a:p>
          <a:p>
            <a:pPr algn="l" marL="619204" indent="-206401" lvl="2">
              <a:lnSpc>
                <a:spcPts val="3656"/>
              </a:lnSpc>
              <a:buFont typeface="Arial"/>
              <a:buChar char="⚬"/>
            </a:pPr>
            <a:r>
              <a:rPr lang="en-US" sz="2708" spc="16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Relevance: Proves ML effectiveness for Indian electoral context.</a:t>
            </a:r>
          </a:p>
          <a:p>
            <a:pPr algn="l">
              <a:lnSpc>
                <a:spcPts val="3656"/>
              </a:lnSpc>
            </a:pPr>
            <a:r>
              <a:rPr lang="en-US" b="true" sz="2708" spc="161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    </a:t>
            </a:r>
            <a:r>
              <a:rPr lang="en-US" b="true" sz="2708" spc="161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Research Gap:</a:t>
            </a:r>
          </a:p>
          <a:p>
            <a:pPr algn="l" marL="598896" indent="-199632" lvl="2">
              <a:lnSpc>
                <a:spcPts val="3536"/>
              </a:lnSpc>
            </a:pPr>
            <a:r>
              <a:rPr lang="en-US" sz="2619" spc="156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Previous studies focus on either political behavior OR social media. Our project combines candidate information + election results with ensemble ML (Random Forest) </a:t>
            </a:r>
            <a:r>
              <a:rPr lang="en-US" b="true" sz="2619" spc="156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benchmarks </a:t>
            </a:r>
            <a:r>
              <a:rPr lang="en-US" sz="2619" spc="156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for comprehensive Indian election prediction.</a:t>
            </a:r>
          </a:p>
          <a:p>
            <a:pPr algn="l" marL="619204" indent="-206401" lvl="2">
              <a:lnSpc>
                <a:spcPts val="3656"/>
              </a:lnSpc>
            </a:pPr>
          </a:p>
          <a:p>
            <a:pPr algn="l" marL="619204" indent="-206401" lvl="2">
              <a:lnSpc>
                <a:spcPts val="365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35244" y="223217"/>
            <a:ext cx="10856586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4"/>
              </a:lnSpc>
            </a:pPr>
            <a:r>
              <a:rPr lang="en-US" sz="5499" spc="-313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Literature Review &amp; Prior Work 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90461" y="1743740"/>
            <a:ext cx="18519" cy="1794398"/>
            <a:chOff x="0" y="0"/>
            <a:chExt cx="25400" cy="24611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2700"/>
              <a:ext cx="25400" cy="2435733"/>
            </a:xfrm>
            <a:custGeom>
              <a:avLst/>
              <a:gdLst/>
              <a:ahLst/>
              <a:cxnLst/>
              <a:rect r="r" b="b" t="t" l="l"/>
              <a:pathLst>
                <a:path h="2435733" w="25400">
                  <a:moveTo>
                    <a:pt x="0" y="243573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2435733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549206" y="2171662"/>
            <a:ext cx="2441346" cy="1422344"/>
          </a:xfrm>
          <a:custGeom>
            <a:avLst/>
            <a:gdLst/>
            <a:ahLst/>
            <a:cxnLst/>
            <a:rect r="r" b="b" t="t" l="l"/>
            <a:pathLst>
              <a:path h="1422344" w="2441346">
                <a:moveTo>
                  <a:pt x="0" y="0"/>
                </a:moveTo>
                <a:lnTo>
                  <a:pt x="2441345" y="0"/>
                </a:lnTo>
                <a:lnTo>
                  <a:pt x="2441345" y="1422344"/>
                </a:lnTo>
                <a:lnTo>
                  <a:pt x="0" y="142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613137" y="2107731"/>
            <a:ext cx="2313484" cy="1422344"/>
            <a:chOff x="0" y="0"/>
            <a:chExt cx="3173145" cy="19508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3145" cy="1950869"/>
            </a:xfrm>
            <a:custGeom>
              <a:avLst/>
              <a:gdLst/>
              <a:ahLst/>
              <a:cxnLst/>
              <a:rect r="r" b="b" t="t" l="l"/>
              <a:pathLst>
                <a:path h="1950869" w="3173145">
                  <a:moveTo>
                    <a:pt x="0" y="0"/>
                  </a:moveTo>
                  <a:lnTo>
                    <a:pt x="3173145" y="0"/>
                  </a:lnTo>
                  <a:lnTo>
                    <a:pt x="3173145" y="1950869"/>
                  </a:lnTo>
                  <a:lnTo>
                    <a:pt x="0" y="1950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3173145" cy="1969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9"/>
                </a:lnSpc>
              </a:pPr>
              <a:r>
                <a:rPr lang="en-US" sz="19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2. </a:t>
              </a:r>
              <a:r>
                <a:rPr lang="en-US" sz="19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DATA PREPROCESSING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779047" y="2170466"/>
            <a:ext cx="2441346" cy="1422344"/>
          </a:xfrm>
          <a:custGeom>
            <a:avLst/>
            <a:gdLst/>
            <a:ahLst/>
            <a:cxnLst/>
            <a:rect r="r" b="b" t="t" l="l"/>
            <a:pathLst>
              <a:path h="1422344" w="2441346">
                <a:moveTo>
                  <a:pt x="0" y="0"/>
                </a:moveTo>
                <a:lnTo>
                  <a:pt x="2441345" y="0"/>
                </a:lnTo>
                <a:lnTo>
                  <a:pt x="2441345" y="1422344"/>
                </a:lnTo>
                <a:lnTo>
                  <a:pt x="0" y="142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866851" y="2211876"/>
            <a:ext cx="2070857" cy="1195537"/>
            <a:chOff x="0" y="0"/>
            <a:chExt cx="3353949" cy="19362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53949" cy="1936285"/>
            </a:xfrm>
            <a:custGeom>
              <a:avLst/>
              <a:gdLst/>
              <a:ahLst/>
              <a:cxnLst/>
              <a:rect r="r" b="b" t="t" l="l"/>
              <a:pathLst>
                <a:path h="1936285" w="3353949">
                  <a:moveTo>
                    <a:pt x="0" y="0"/>
                  </a:moveTo>
                  <a:lnTo>
                    <a:pt x="3353949" y="0"/>
                  </a:lnTo>
                  <a:lnTo>
                    <a:pt x="3353949" y="1936285"/>
                  </a:lnTo>
                  <a:lnTo>
                    <a:pt x="0" y="19362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353949" cy="1964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08"/>
                </a:lnSpc>
              </a:pPr>
              <a:r>
                <a:rPr lang="en-US" sz="16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3. </a:t>
              </a:r>
              <a:r>
                <a:rPr lang="en-US" sz="16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EXPLORATORY DATA ANALYSIS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549206" y="4165353"/>
            <a:ext cx="2441346" cy="1422344"/>
          </a:xfrm>
          <a:custGeom>
            <a:avLst/>
            <a:gdLst/>
            <a:ahLst/>
            <a:cxnLst/>
            <a:rect r="r" b="b" t="t" l="l"/>
            <a:pathLst>
              <a:path h="1422344" w="2441346">
                <a:moveTo>
                  <a:pt x="0" y="0"/>
                </a:moveTo>
                <a:lnTo>
                  <a:pt x="2441345" y="0"/>
                </a:lnTo>
                <a:lnTo>
                  <a:pt x="2441345" y="1422344"/>
                </a:lnTo>
                <a:lnTo>
                  <a:pt x="0" y="142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613137" y="4101422"/>
            <a:ext cx="2313484" cy="1422344"/>
            <a:chOff x="0" y="0"/>
            <a:chExt cx="3173145" cy="1950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73145" cy="1950869"/>
            </a:xfrm>
            <a:custGeom>
              <a:avLst/>
              <a:gdLst/>
              <a:ahLst/>
              <a:cxnLst/>
              <a:rect r="r" b="b" t="t" l="l"/>
              <a:pathLst>
                <a:path h="1950869" w="3173145">
                  <a:moveTo>
                    <a:pt x="0" y="0"/>
                  </a:moveTo>
                  <a:lnTo>
                    <a:pt x="3173145" y="0"/>
                  </a:lnTo>
                  <a:lnTo>
                    <a:pt x="3173145" y="1950869"/>
                  </a:lnTo>
                  <a:lnTo>
                    <a:pt x="0" y="1950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3173145" cy="1969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9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CLEANING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549206" y="6136509"/>
            <a:ext cx="2441346" cy="1422344"/>
          </a:xfrm>
          <a:custGeom>
            <a:avLst/>
            <a:gdLst/>
            <a:ahLst/>
            <a:cxnLst/>
            <a:rect r="r" b="b" t="t" l="l"/>
            <a:pathLst>
              <a:path h="1422344" w="2441346">
                <a:moveTo>
                  <a:pt x="0" y="0"/>
                </a:moveTo>
                <a:lnTo>
                  <a:pt x="2441345" y="0"/>
                </a:lnTo>
                <a:lnTo>
                  <a:pt x="2441345" y="1422344"/>
                </a:lnTo>
                <a:lnTo>
                  <a:pt x="0" y="142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613137" y="6072578"/>
            <a:ext cx="2313484" cy="1422344"/>
            <a:chOff x="0" y="0"/>
            <a:chExt cx="3173145" cy="19508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3145" cy="1950869"/>
            </a:xfrm>
            <a:custGeom>
              <a:avLst/>
              <a:gdLst/>
              <a:ahLst/>
              <a:cxnLst/>
              <a:rect r="r" b="b" t="t" l="l"/>
              <a:pathLst>
                <a:path h="1950869" w="3173145">
                  <a:moveTo>
                    <a:pt x="0" y="0"/>
                  </a:moveTo>
                  <a:lnTo>
                    <a:pt x="3173145" y="0"/>
                  </a:lnTo>
                  <a:lnTo>
                    <a:pt x="3173145" y="1950869"/>
                  </a:lnTo>
                  <a:lnTo>
                    <a:pt x="0" y="1950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173145" cy="1969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9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FEATURE ENGINEERING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11301" y="1753126"/>
            <a:ext cx="23445" cy="1789946"/>
            <a:chOff x="0" y="0"/>
            <a:chExt cx="32157" cy="24550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12700"/>
              <a:ext cx="32131" cy="2429764"/>
            </a:xfrm>
            <a:custGeom>
              <a:avLst/>
              <a:gdLst/>
              <a:ahLst/>
              <a:cxnLst/>
              <a:rect r="r" b="b" t="t" l="l"/>
              <a:pathLst>
                <a:path h="2429764" w="32131">
                  <a:moveTo>
                    <a:pt x="6731" y="2429764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32131" y="2429637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0004815" y="2175400"/>
            <a:ext cx="2441346" cy="1422344"/>
          </a:xfrm>
          <a:custGeom>
            <a:avLst/>
            <a:gdLst/>
            <a:ahLst/>
            <a:cxnLst/>
            <a:rect r="r" b="b" t="t" l="l"/>
            <a:pathLst>
              <a:path h="1422344" w="2441346">
                <a:moveTo>
                  <a:pt x="0" y="0"/>
                </a:moveTo>
                <a:lnTo>
                  <a:pt x="2441345" y="0"/>
                </a:lnTo>
                <a:lnTo>
                  <a:pt x="2441345" y="1422344"/>
                </a:lnTo>
                <a:lnTo>
                  <a:pt x="0" y="142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068746" y="2111469"/>
            <a:ext cx="2313484" cy="1422344"/>
            <a:chOff x="0" y="0"/>
            <a:chExt cx="3173145" cy="19508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73145" cy="1950869"/>
            </a:xfrm>
            <a:custGeom>
              <a:avLst/>
              <a:gdLst/>
              <a:ahLst/>
              <a:cxnLst/>
              <a:rect r="r" b="b" t="t" l="l"/>
              <a:pathLst>
                <a:path h="1950869" w="3173145">
                  <a:moveTo>
                    <a:pt x="0" y="0"/>
                  </a:moveTo>
                  <a:lnTo>
                    <a:pt x="3173145" y="0"/>
                  </a:lnTo>
                  <a:lnTo>
                    <a:pt x="3173145" y="1950869"/>
                  </a:lnTo>
                  <a:lnTo>
                    <a:pt x="0" y="1950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173145" cy="1969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9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4. </a:t>
              </a: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MODEL TRAINING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68167" y="1717926"/>
            <a:ext cx="18519" cy="5139015"/>
            <a:chOff x="0" y="0"/>
            <a:chExt cx="25400" cy="7048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2700"/>
              <a:ext cx="25400" cy="7023227"/>
            </a:xfrm>
            <a:custGeom>
              <a:avLst/>
              <a:gdLst/>
              <a:ahLst/>
              <a:cxnLst/>
              <a:rect r="r" b="b" t="t" l="l"/>
              <a:pathLst>
                <a:path h="7023227" w="25400">
                  <a:moveTo>
                    <a:pt x="0" y="7023227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7023227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760620" y="1729503"/>
            <a:ext cx="18519" cy="515350"/>
            <a:chOff x="0" y="0"/>
            <a:chExt cx="25400" cy="7068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12700"/>
              <a:ext cx="25400" cy="681482"/>
            </a:xfrm>
            <a:custGeom>
              <a:avLst/>
              <a:gdLst/>
              <a:ahLst/>
              <a:cxnLst/>
              <a:rect r="r" b="b" t="t" l="l"/>
              <a:pathLst>
                <a:path h="681482" w="25400">
                  <a:moveTo>
                    <a:pt x="0" y="681482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681482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760620" y="3520816"/>
            <a:ext cx="18519" cy="717728"/>
            <a:chOff x="0" y="0"/>
            <a:chExt cx="25400" cy="9844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12700"/>
              <a:ext cx="25400" cy="958977"/>
            </a:xfrm>
            <a:custGeom>
              <a:avLst/>
              <a:gdLst/>
              <a:ahLst/>
              <a:cxnLst/>
              <a:rect r="r" b="b" t="t" l="l"/>
              <a:pathLst>
                <a:path h="958977" w="25400">
                  <a:moveTo>
                    <a:pt x="0" y="958977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958977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760620" y="5514507"/>
            <a:ext cx="18519" cy="695193"/>
            <a:chOff x="0" y="0"/>
            <a:chExt cx="25400" cy="95351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12700"/>
              <a:ext cx="25400" cy="928116"/>
            </a:xfrm>
            <a:custGeom>
              <a:avLst/>
              <a:gdLst/>
              <a:ahLst/>
              <a:cxnLst/>
              <a:rect r="r" b="b" t="t" l="l"/>
              <a:pathLst>
                <a:path h="928116" w="25400">
                  <a:moveTo>
                    <a:pt x="0" y="928116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928116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356754" y="2170466"/>
            <a:ext cx="2441346" cy="1422344"/>
          </a:xfrm>
          <a:custGeom>
            <a:avLst/>
            <a:gdLst/>
            <a:ahLst/>
            <a:cxnLst/>
            <a:rect r="r" b="b" t="t" l="l"/>
            <a:pathLst>
              <a:path h="1422344" w="2441346">
                <a:moveTo>
                  <a:pt x="0" y="0"/>
                </a:moveTo>
                <a:lnTo>
                  <a:pt x="2441346" y="0"/>
                </a:lnTo>
                <a:lnTo>
                  <a:pt x="2441346" y="1422344"/>
                </a:lnTo>
                <a:lnTo>
                  <a:pt x="0" y="142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420685" y="2106535"/>
            <a:ext cx="2313484" cy="1422344"/>
            <a:chOff x="0" y="0"/>
            <a:chExt cx="3173145" cy="19508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73145" cy="1950869"/>
            </a:xfrm>
            <a:custGeom>
              <a:avLst/>
              <a:gdLst/>
              <a:ahLst/>
              <a:cxnLst/>
              <a:rect r="r" b="b" t="t" l="l"/>
              <a:pathLst>
                <a:path h="1950869" w="3173145">
                  <a:moveTo>
                    <a:pt x="0" y="0"/>
                  </a:moveTo>
                  <a:lnTo>
                    <a:pt x="3173145" y="0"/>
                  </a:lnTo>
                  <a:lnTo>
                    <a:pt x="3173145" y="1950869"/>
                  </a:lnTo>
                  <a:lnTo>
                    <a:pt x="0" y="1950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3173145" cy="1969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9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1. </a:t>
              </a: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DATA COLLECTION </a:t>
              </a:r>
            </a:p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356754" y="4148700"/>
            <a:ext cx="2441346" cy="1422344"/>
          </a:xfrm>
          <a:custGeom>
            <a:avLst/>
            <a:gdLst/>
            <a:ahLst/>
            <a:cxnLst/>
            <a:rect r="r" b="b" t="t" l="l"/>
            <a:pathLst>
              <a:path h="1422344" w="2441346">
                <a:moveTo>
                  <a:pt x="0" y="0"/>
                </a:moveTo>
                <a:lnTo>
                  <a:pt x="2441346" y="0"/>
                </a:lnTo>
                <a:lnTo>
                  <a:pt x="2441346" y="1422344"/>
                </a:lnTo>
                <a:lnTo>
                  <a:pt x="0" y="142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420685" y="4084769"/>
            <a:ext cx="2313484" cy="1422344"/>
            <a:chOff x="0" y="0"/>
            <a:chExt cx="3173145" cy="195086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73145" cy="1950869"/>
            </a:xfrm>
            <a:custGeom>
              <a:avLst/>
              <a:gdLst/>
              <a:ahLst/>
              <a:cxnLst/>
              <a:rect r="r" b="b" t="t" l="l"/>
              <a:pathLst>
                <a:path h="1950869" w="3173145">
                  <a:moveTo>
                    <a:pt x="0" y="0"/>
                  </a:moveTo>
                  <a:lnTo>
                    <a:pt x="3173145" y="0"/>
                  </a:lnTo>
                  <a:lnTo>
                    <a:pt x="3173145" y="1950869"/>
                  </a:lnTo>
                  <a:lnTo>
                    <a:pt x="0" y="1950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3173145" cy="1969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8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ELECTION RESULTS</a:t>
              </a:r>
            </a:p>
            <a:p>
              <a:pPr algn="ctr">
                <a:lnSpc>
                  <a:spcPts val="2729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(ECI)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80629" y="1734404"/>
            <a:ext cx="15151665" cy="37191"/>
            <a:chOff x="0" y="0"/>
            <a:chExt cx="20781833" cy="5101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0"/>
              <a:ext cx="20756499" cy="51054"/>
            </a:xfrm>
            <a:custGeom>
              <a:avLst/>
              <a:gdLst/>
              <a:ahLst/>
              <a:cxnLst/>
              <a:rect r="r" b="b" t="t" l="l"/>
              <a:pathLst>
                <a:path h="51054" w="20756499">
                  <a:moveTo>
                    <a:pt x="0" y="0"/>
                  </a:moveTo>
                  <a:lnTo>
                    <a:pt x="20756499" y="25654"/>
                  </a:lnTo>
                  <a:lnTo>
                    <a:pt x="20756499" y="51054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356754" y="6136509"/>
            <a:ext cx="2441346" cy="1422344"/>
          </a:xfrm>
          <a:custGeom>
            <a:avLst/>
            <a:gdLst/>
            <a:ahLst/>
            <a:cxnLst/>
            <a:rect r="r" b="b" t="t" l="l"/>
            <a:pathLst>
              <a:path h="1422344" w="2441346">
                <a:moveTo>
                  <a:pt x="0" y="0"/>
                </a:moveTo>
                <a:lnTo>
                  <a:pt x="2441346" y="0"/>
                </a:lnTo>
                <a:lnTo>
                  <a:pt x="2441346" y="1422344"/>
                </a:lnTo>
                <a:lnTo>
                  <a:pt x="0" y="142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420685" y="6072578"/>
            <a:ext cx="2313484" cy="1422344"/>
            <a:chOff x="0" y="0"/>
            <a:chExt cx="3173145" cy="195086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73145" cy="1950869"/>
            </a:xfrm>
            <a:custGeom>
              <a:avLst/>
              <a:gdLst/>
              <a:ahLst/>
              <a:cxnLst/>
              <a:rect r="r" b="b" t="t" l="l"/>
              <a:pathLst>
                <a:path h="1950869" w="3173145">
                  <a:moveTo>
                    <a:pt x="0" y="0"/>
                  </a:moveTo>
                  <a:lnTo>
                    <a:pt x="3173145" y="0"/>
                  </a:lnTo>
                  <a:lnTo>
                    <a:pt x="3173145" y="1950869"/>
                  </a:lnTo>
                  <a:lnTo>
                    <a:pt x="0" y="1950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173145" cy="1969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8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CANDIDATE AFFIDAVITS</a:t>
              </a:r>
            </a:p>
            <a:p>
              <a:pPr algn="ctr">
                <a:lnSpc>
                  <a:spcPts val="2729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(ADR/Myneta)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6779047" y="4141621"/>
            <a:ext cx="2441346" cy="2067953"/>
          </a:xfrm>
          <a:custGeom>
            <a:avLst/>
            <a:gdLst/>
            <a:ahLst/>
            <a:cxnLst/>
            <a:rect r="r" b="b" t="t" l="l"/>
            <a:pathLst>
              <a:path h="2067953" w="2441346">
                <a:moveTo>
                  <a:pt x="0" y="0"/>
                </a:moveTo>
                <a:lnTo>
                  <a:pt x="2441345" y="0"/>
                </a:lnTo>
                <a:lnTo>
                  <a:pt x="2441345" y="2067953"/>
                </a:lnTo>
                <a:lnTo>
                  <a:pt x="0" y="2067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6842978" y="4077690"/>
            <a:ext cx="2313484" cy="2067953"/>
            <a:chOff x="0" y="0"/>
            <a:chExt cx="3173145" cy="283637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73145" cy="2836378"/>
            </a:xfrm>
            <a:custGeom>
              <a:avLst/>
              <a:gdLst/>
              <a:ahLst/>
              <a:cxnLst/>
              <a:rect r="r" b="b" t="t" l="l"/>
              <a:pathLst>
                <a:path h="2836378" w="3173145">
                  <a:moveTo>
                    <a:pt x="0" y="0"/>
                  </a:moveTo>
                  <a:lnTo>
                    <a:pt x="3173145" y="0"/>
                  </a:lnTo>
                  <a:lnTo>
                    <a:pt x="3173145" y="2836378"/>
                  </a:lnTo>
                  <a:lnTo>
                    <a:pt x="0" y="28363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173145" cy="28554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9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BAR PLOT,HEATMAP,PIE PLOT,SOME ADVANCE PLOTTING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990461" y="3519619"/>
            <a:ext cx="18519" cy="695193"/>
            <a:chOff x="0" y="0"/>
            <a:chExt cx="25400" cy="95351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12700"/>
              <a:ext cx="25400" cy="928116"/>
            </a:xfrm>
            <a:custGeom>
              <a:avLst/>
              <a:gdLst/>
              <a:ahLst/>
              <a:cxnLst/>
              <a:rect r="r" b="b" t="t" l="l"/>
              <a:pathLst>
                <a:path h="928116" w="25400">
                  <a:moveTo>
                    <a:pt x="0" y="928116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928116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10053043" y="3833294"/>
            <a:ext cx="2279599" cy="1406234"/>
          </a:xfrm>
          <a:custGeom>
            <a:avLst/>
            <a:gdLst/>
            <a:ahLst/>
            <a:cxnLst/>
            <a:rect r="r" b="b" t="t" l="l"/>
            <a:pathLst>
              <a:path h="1406234" w="2279599">
                <a:moveTo>
                  <a:pt x="0" y="0"/>
                </a:moveTo>
                <a:lnTo>
                  <a:pt x="2279598" y="0"/>
                </a:lnTo>
                <a:lnTo>
                  <a:pt x="2279598" y="1406234"/>
                </a:lnTo>
                <a:lnTo>
                  <a:pt x="0" y="14062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0074835" y="3737266"/>
            <a:ext cx="2151736" cy="1406234"/>
            <a:chOff x="0" y="0"/>
            <a:chExt cx="2951295" cy="192877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51295" cy="1928773"/>
            </a:xfrm>
            <a:custGeom>
              <a:avLst/>
              <a:gdLst/>
              <a:ahLst/>
              <a:cxnLst/>
              <a:rect r="r" b="b" t="t" l="l"/>
              <a:pathLst>
                <a:path h="1928773" w="2951295">
                  <a:moveTo>
                    <a:pt x="0" y="0"/>
                  </a:moveTo>
                  <a:lnTo>
                    <a:pt x="2951295" y="0"/>
                  </a:lnTo>
                  <a:lnTo>
                    <a:pt x="2951295" y="1928773"/>
                  </a:lnTo>
                  <a:lnTo>
                    <a:pt x="0" y="19287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951295" cy="1947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8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RANDOM</a:t>
              </a:r>
            </a:p>
            <a:p>
              <a:pPr algn="ctr">
                <a:lnSpc>
                  <a:spcPts val="2729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FO</a:t>
              </a: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REST CLASSIFIER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183582" y="3519619"/>
            <a:ext cx="20851" cy="386866"/>
            <a:chOff x="0" y="0"/>
            <a:chExt cx="28599" cy="5306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12573"/>
              <a:ext cx="28575" cy="505460"/>
            </a:xfrm>
            <a:custGeom>
              <a:avLst/>
              <a:gdLst/>
              <a:ahLst/>
              <a:cxnLst/>
              <a:rect r="r" b="b" t="t" l="l"/>
              <a:pathLst>
                <a:path h="505460" w="28575">
                  <a:moveTo>
                    <a:pt x="0" y="505206"/>
                  </a:moveTo>
                  <a:lnTo>
                    <a:pt x="3175" y="0"/>
                  </a:lnTo>
                  <a:lnTo>
                    <a:pt x="28575" y="127"/>
                  </a:lnTo>
                  <a:lnTo>
                    <a:pt x="25400" y="505460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sp>
        <p:nvSpPr>
          <p:cNvPr name="Freeform 61" id="61"/>
          <p:cNvSpPr/>
          <p:nvPr/>
        </p:nvSpPr>
        <p:spPr>
          <a:xfrm flipH="false" flipV="false" rot="0">
            <a:off x="12759972" y="2185900"/>
            <a:ext cx="2441346" cy="1422344"/>
          </a:xfrm>
          <a:custGeom>
            <a:avLst/>
            <a:gdLst/>
            <a:ahLst/>
            <a:cxnLst/>
            <a:rect r="r" b="b" t="t" l="l"/>
            <a:pathLst>
              <a:path h="1422344" w="2441346">
                <a:moveTo>
                  <a:pt x="0" y="0"/>
                </a:moveTo>
                <a:lnTo>
                  <a:pt x="2441345" y="0"/>
                </a:lnTo>
                <a:lnTo>
                  <a:pt x="2441345" y="1422344"/>
                </a:lnTo>
                <a:lnTo>
                  <a:pt x="0" y="142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2823903" y="2098472"/>
            <a:ext cx="2313484" cy="1422344"/>
            <a:chOff x="0" y="0"/>
            <a:chExt cx="3173145" cy="195086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73145" cy="1950869"/>
            </a:xfrm>
            <a:custGeom>
              <a:avLst/>
              <a:gdLst/>
              <a:ahLst/>
              <a:cxnLst/>
              <a:rect r="r" b="b" t="t" l="l"/>
              <a:pathLst>
                <a:path h="1950869" w="3173145">
                  <a:moveTo>
                    <a:pt x="0" y="0"/>
                  </a:moveTo>
                  <a:lnTo>
                    <a:pt x="3173145" y="0"/>
                  </a:lnTo>
                  <a:lnTo>
                    <a:pt x="3173145" y="1950869"/>
                  </a:lnTo>
                  <a:lnTo>
                    <a:pt x="0" y="19508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3173145" cy="1969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9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5.</a:t>
              </a: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MODEL EVALUATION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12759972" y="4179591"/>
            <a:ext cx="2537377" cy="1478292"/>
          </a:xfrm>
          <a:custGeom>
            <a:avLst/>
            <a:gdLst/>
            <a:ahLst/>
            <a:cxnLst/>
            <a:rect r="r" b="b" t="t" l="l"/>
            <a:pathLst>
              <a:path h="1478292" w="2537377">
                <a:moveTo>
                  <a:pt x="0" y="0"/>
                </a:moveTo>
                <a:lnTo>
                  <a:pt x="2537376" y="0"/>
                </a:lnTo>
                <a:lnTo>
                  <a:pt x="2537376" y="1478292"/>
                </a:lnTo>
                <a:lnTo>
                  <a:pt x="0" y="14782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2866436" y="4101422"/>
            <a:ext cx="2209900" cy="1515431"/>
            <a:chOff x="0" y="0"/>
            <a:chExt cx="3173145" cy="217597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173145" cy="2175974"/>
            </a:xfrm>
            <a:custGeom>
              <a:avLst/>
              <a:gdLst/>
              <a:ahLst/>
              <a:cxnLst/>
              <a:rect r="r" b="b" t="t" l="l"/>
              <a:pathLst>
                <a:path h="2175974" w="3173145">
                  <a:moveTo>
                    <a:pt x="0" y="0"/>
                  </a:moveTo>
                  <a:lnTo>
                    <a:pt x="3173145" y="0"/>
                  </a:lnTo>
                  <a:lnTo>
                    <a:pt x="3173145" y="2175974"/>
                  </a:lnTo>
                  <a:lnTo>
                    <a:pt x="0" y="21759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3173145" cy="2195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8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ACCURACY PRECISION</a:t>
              </a:r>
            </a:p>
            <a:p>
              <a:pPr algn="ctr">
                <a:lnSpc>
                  <a:spcPts val="2728"/>
                </a:lnSpc>
              </a:pPr>
              <a:r>
                <a:rPr lang="en-US" sz="2098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Recall</a:t>
              </a:r>
            </a:p>
            <a:p>
              <a:pPr algn="ctr">
                <a:lnSpc>
                  <a:spcPts val="2598"/>
                </a:lnSpc>
              </a:pPr>
              <a:r>
                <a:rPr lang="en-US" sz="1998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F1 SCORE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971386" y="1743740"/>
            <a:ext cx="18519" cy="515350"/>
            <a:chOff x="0" y="0"/>
            <a:chExt cx="25400" cy="70684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12700"/>
              <a:ext cx="25400" cy="681482"/>
            </a:xfrm>
            <a:custGeom>
              <a:avLst/>
              <a:gdLst/>
              <a:ahLst/>
              <a:cxnLst/>
              <a:rect r="r" b="b" t="t" l="l"/>
              <a:pathLst>
                <a:path h="681482" w="25400">
                  <a:moveTo>
                    <a:pt x="0" y="681482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681482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971386" y="3535053"/>
            <a:ext cx="18519" cy="717728"/>
            <a:chOff x="0" y="0"/>
            <a:chExt cx="25400" cy="98442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12700"/>
              <a:ext cx="25400" cy="958977"/>
            </a:xfrm>
            <a:custGeom>
              <a:avLst/>
              <a:gdLst/>
              <a:ahLst/>
              <a:cxnLst/>
              <a:rect r="r" b="b" t="t" l="l"/>
              <a:pathLst>
                <a:path h="958977" w="25400">
                  <a:moveTo>
                    <a:pt x="0" y="958977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958977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971386" y="5528744"/>
            <a:ext cx="18519" cy="18519"/>
            <a:chOff x="0" y="0"/>
            <a:chExt cx="25400" cy="25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2700" y="0"/>
              <a:ext cx="0" cy="25400"/>
            </a:xfrm>
            <a:custGeom>
              <a:avLst/>
              <a:gdLst/>
              <a:ahLst/>
              <a:cxnLst/>
              <a:rect r="r" b="b" t="t" l="l"/>
              <a:pathLst>
                <a:path h="25400" w="0">
                  <a:moveTo>
                    <a:pt x="0" y="0"/>
                  </a:moveTo>
                  <a:lnTo>
                    <a:pt x="0" y="25400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sp>
        <p:nvSpPr>
          <p:cNvPr name="Freeform 75" id="75"/>
          <p:cNvSpPr/>
          <p:nvPr/>
        </p:nvSpPr>
        <p:spPr>
          <a:xfrm flipH="false" flipV="false" rot="0">
            <a:off x="15489900" y="2157729"/>
            <a:ext cx="2441346" cy="2146874"/>
          </a:xfrm>
          <a:custGeom>
            <a:avLst/>
            <a:gdLst/>
            <a:ahLst/>
            <a:cxnLst/>
            <a:rect r="r" b="b" t="t" l="l"/>
            <a:pathLst>
              <a:path h="2146874" w="2441346">
                <a:moveTo>
                  <a:pt x="0" y="0"/>
                </a:moveTo>
                <a:lnTo>
                  <a:pt x="2441346" y="0"/>
                </a:lnTo>
                <a:lnTo>
                  <a:pt x="2441346" y="2146875"/>
                </a:lnTo>
                <a:lnTo>
                  <a:pt x="0" y="21468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5611673" y="2230919"/>
            <a:ext cx="2113548" cy="1961337"/>
            <a:chOff x="0" y="0"/>
            <a:chExt cx="3173145" cy="294462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173145" cy="2944626"/>
            </a:xfrm>
            <a:custGeom>
              <a:avLst/>
              <a:gdLst/>
              <a:ahLst/>
              <a:cxnLst/>
              <a:rect r="r" b="b" t="t" l="l"/>
              <a:pathLst>
                <a:path h="2944626" w="3173145">
                  <a:moveTo>
                    <a:pt x="0" y="0"/>
                  </a:moveTo>
                  <a:lnTo>
                    <a:pt x="3173145" y="0"/>
                  </a:lnTo>
                  <a:lnTo>
                    <a:pt x="3173145" y="2944626"/>
                  </a:lnTo>
                  <a:lnTo>
                    <a:pt x="0" y="29446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3173145" cy="29636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9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6.</a:t>
              </a: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PREDICTION &amp; RESULTS </a:t>
              </a:r>
            </a:p>
            <a:p>
              <a:pPr algn="ctr">
                <a:lnSpc>
                  <a:spcPts val="2729"/>
                </a:lnSpc>
              </a:pPr>
              <a:r>
                <a:rPr lang="en-US" sz="2099" b="true">
                  <a:solidFill>
                    <a:srgbClr val="494949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ELECTION OUTCOME FORECASTING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6701314" y="1753126"/>
            <a:ext cx="18519" cy="477793"/>
            <a:chOff x="0" y="0"/>
            <a:chExt cx="25400" cy="65533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12700"/>
              <a:ext cx="25400" cy="629920"/>
            </a:xfrm>
            <a:custGeom>
              <a:avLst/>
              <a:gdLst/>
              <a:ahLst/>
              <a:cxnLst/>
              <a:rect r="r" b="b" t="t" l="l"/>
              <a:pathLst>
                <a:path h="629920" w="25400">
                  <a:moveTo>
                    <a:pt x="0" y="629920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629920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183582" y="7481639"/>
            <a:ext cx="18519" cy="18519"/>
            <a:chOff x="0" y="0"/>
            <a:chExt cx="25400" cy="25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2700" y="0"/>
              <a:ext cx="0" cy="25400"/>
            </a:xfrm>
            <a:custGeom>
              <a:avLst/>
              <a:gdLst/>
              <a:ahLst/>
              <a:cxnLst/>
              <a:rect r="r" b="b" t="t" l="l"/>
              <a:pathLst>
                <a:path h="25400" w="0">
                  <a:moveTo>
                    <a:pt x="0" y="0"/>
                  </a:moveTo>
                  <a:lnTo>
                    <a:pt x="0" y="25400"/>
                  </a:lnTo>
                  <a:close/>
                </a:path>
              </a:pathLst>
            </a:custGeom>
            <a:solidFill>
              <a:srgbClr val="494949"/>
            </a:solid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2362883" y="501015"/>
            <a:ext cx="13562234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0"/>
              </a:lnSpc>
            </a:pPr>
            <a:r>
              <a:rPr lang="en-US" sz="6000" spc="-342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Methodology / Algorithms: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3353" y="5005100"/>
            <a:ext cx="13655340" cy="2732956"/>
          </a:xfrm>
          <a:custGeom>
            <a:avLst/>
            <a:gdLst/>
            <a:ahLst/>
            <a:cxnLst/>
            <a:rect r="r" b="b" t="t" l="l"/>
            <a:pathLst>
              <a:path h="2732956" w="13655340">
                <a:moveTo>
                  <a:pt x="0" y="0"/>
                </a:moveTo>
                <a:lnTo>
                  <a:pt x="13655339" y="0"/>
                </a:lnTo>
                <a:lnTo>
                  <a:pt x="13655339" y="2732957"/>
                </a:lnTo>
                <a:lnTo>
                  <a:pt x="0" y="273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01" r="0" b="-7312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3353" y="7942282"/>
            <a:ext cx="13655340" cy="2024033"/>
          </a:xfrm>
          <a:custGeom>
            <a:avLst/>
            <a:gdLst/>
            <a:ahLst/>
            <a:cxnLst/>
            <a:rect r="r" b="b" t="t" l="l"/>
            <a:pathLst>
              <a:path h="2024033" w="13655340">
                <a:moveTo>
                  <a:pt x="0" y="0"/>
                </a:moveTo>
                <a:lnTo>
                  <a:pt x="13655339" y="0"/>
                </a:lnTo>
                <a:lnTo>
                  <a:pt x="13655339" y="2024033"/>
                </a:lnTo>
                <a:lnTo>
                  <a:pt x="0" y="20240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690" r="0" b="-5201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201712"/>
            <a:ext cx="919819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6450"/>
              </a:lnSpc>
              <a:buAutoNum type="arabicPeriod" startAt="1"/>
            </a:pPr>
            <a:r>
              <a:rPr lang="en-US" sz="5000" spc="-28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Data Collection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3353" y="1226201"/>
            <a:ext cx="16378316" cy="377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9"/>
              </a:lnSpc>
            </a:pPr>
            <a:r>
              <a:rPr lang="en-US" b="true" sz="3207" spc="189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D</a:t>
            </a:r>
            <a:r>
              <a:rPr lang="en-US" b="true" sz="3207" spc="189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at</a:t>
            </a:r>
            <a:r>
              <a:rPr lang="en-US" b="true" sz="3207" spc="189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 Sources:</a:t>
            </a:r>
          </a:p>
          <a:p>
            <a:pPr algn="just">
              <a:lnSpc>
                <a:spcPts val="4329"/>
              </a:lnSpc>
            </a:pPr>
            <a:r>
              <a:rPr lang="en-US" sz="3207" spc="189" u="sng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  <a:hlinkClick r:id="rId5" tooltip="http://data.gov.in"/>
              </a:rPr>
              <a:t>data.gov.in </a:t>
            </a:r>
            <a:r>
              <a:rPr lang="en-US" sz="3207" spc="189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- Official 2024 election results and candidate information</a:t>
            </a:r>
          </a:p>
          <a:p>
            <a:pPr algn="just">
              <a:lnSpc>
                <a:spcPts val="4329"/>
              </a:lnSpc>
            </a:pPr>
            <a:r>
              <a:rPr lang="en-US" sz="3207" spc="189" u="sng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  <a:hlinkClick r:id="rId6" tooltip="http://myneta.info"/>
              </a:rPr>
              <a:t>Myneta.info</a:t>
            </a:r>
            <a:r>
              <a:rPr lang="en-US" sz="3207" spc="189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- Electoral history, candidate profiles, and electoral analysis</a:t>
            </a:r>
          </a:p>
          <a:p>
            <a:pPr algn="just">
              <a:lnSpc>
                <a:spcPts val="4330"/>
              </a:lnSpc>
            </a:pPr>
            <a:r>
              <a:rPr lang="en-US" sz="3207" spc="191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Python-based web scraping implementation using BeautifulSoup library following ethical practices</a:t>
            </a:r>
          </a:p>
          <a:p>
            <a:pPr algn="just" marL="733301" indent="-244434" lvl="2">
              <a:lnSpc>
                <a:spcPts val="433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5487" y="273168"/>
            <a:ext cx="9008687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0"/>
              </a:lnSpc>
            </a:pPr>
            <a:r>
              <a:rPr lang="en-US" sz="5000" spc="-28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2.Data Preprocessing:</a:t>
            </a:r>
          </a:p>
          <a:p>
            <a:pPr algn="l">
              <a:lnSpc>
                <a:spcPts val="645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85487" y="1358512"/>
            <a:ext cx="15132898" cy="8031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4"/>
              </a:lnSpc>
            </a:pPr>
            <a:r>
              <a:rPr lang="en-US" b="true" sz="2373" spc="140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5</a:t>
            </a:r>
            <a:r>
              <a:rPr lang="en-US" b="true" sz="2373" spc="140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Core Operations:</a:t>
            </a:r>
          </a:p>
          <a:p>
            <a:pPr algn="just">
              <a:lnSpc>
                <a:spcPts val="3204"/>
              </a:lnSpc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1</a:t>
            </a:r>
            <a:r>
              <a:rPr lang="en-US" sz="2373" spc="14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.</a:t>
            </a: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C</a:t>
            </a:r>
            <a:r>
              <a:rPr lang="en-US" sz="2373" spc="14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o</a:t>
            </a: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n</a:t>
            </a:r>
            <a:r>
              <a:rPr lang="en-US" sz="2373" spc="14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v</a:t>
            </a: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ert Curre</a:t>
            </a:r>
            <a:r>
              <a:rPr lang="en-US" sz="2373" spc="14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n</a:t>
            </a: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cy</a:t>
            </a:r>
            <a:r>
              <a:rPr lang="en-US" sz="2373" spc="14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to Numerical</a:t>
            </a:r>
          </a:p>
          <a:p>
            <a:pPr algn="just" marL="512438" indent="-256219" lvl="1">
              <a:lnSpc>
                <a:spcPts val="3204"/>
              </a:lnSpc>
              <a:buFont typeface="Arial"/>
              <a:buChar char="•"/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"Rs 49,72,497~ 49 Lacs+" → 4972497.0 </a:t>
            </a:r>
          </a:p>
          <a:p>
            <a:pPr algn="just">
              <a:lnSpc>
                <a:spcPts val="3204"/>
              </a:lnSpc>
            </a:pPr>
          </a:p>
          <a:p>
            <a:pPr algn="just">
              <a:lnSpc>
                <a:spcPts val="3204"/>
              </a:lnSpc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2. Standardize Names</a:t>
            </a:r>
          </a:p>
          <a:p>
            <a:pPr algn="just" marL="512438" indent="-256219" lvl="1">
              <a:lnSpc>
                <a:spcPts val="3204"/>
              </a:lnSpc>
              <a:buFont typeface="Arial"/>
              <a:buChar char="•"/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Candidate: Uppercase + trim spaces</a:t>
            </a:r>
          </a:p>
          <a:p>
            <a:pPr algn="just" marL="512438" indent="-256219" lvl="1">
              <a:lnSpc>
                <a:spcPts val="3204"/>
              </a:lnSpc>
              <a:buFont typeface="Arial"/>
              <a:buChar char="•"/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Constituenc</a:t>
            </a:r>
            <a:r>
              <a:rPr lang="en-US" sz="2373" spc="14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y</a:t>
            </a: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: Remov</a:t>
            </a:r>
            <a:r>
              <a:rPr lang="en-US" sz="2373" spc="14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e</a:t>
            </a: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(SC), (ST), (OBC) </a:t>
            </a:r>
            <a:r>
              <a:rPr lang="en-US" sz="2373" spc="14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ta</a:t>
            </a: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gs</a:t>
            </a:r>
          </a:p>
          <a:p>
            <a:pPr algn="just">
              <a:lnSpc>
                <a:spcPts val="3204"/>
              </a:lnSpc>
            </a:pPr>
          </a:p>
          <a:p>
            <a:pPr algn="just">
              <a:lnSpc>
                <a:spcPts val="3204"/>
              </a:lnSpc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3</a:t>
            </a:r>
            <a:r>
              <a:rPr lang="en-US" sz="2373" spc="14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.</a:t>
            </a: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Merge Datasets</a:t>
            </a:r>
          </a:p>
          <a:p>
            <a:pPr algn="just" marL="512438" indent="-256219" lvl="1">
              <a:lnSpc>
                <a:spcPts val="3204"/>
              </a:lnSpc>
              <a:buFont typeface="Arial"/>
              <a:buChar char="•"/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Join on: Candidate Name + Constituency</a:t>
            </a:r>
          </a:p>
          <a:p>
            <a:pPr algn="just">
              <a:lnSpc>
                <a:spcPts val="3204"/>
              </a:lnSpc>
            </a:pPr>
          </a:p>
          <a:p>
            <a:pPr algn="just">
              <a:lnSpc>
                <a:spcPts val="3204"/>
              </a:lnSpc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4. Remove NOTA</a:t>
            </a:r>
          </a:p>
          <a:p>
            <a:pPr algn="just" marL="512438" indent="-256219" lvl="1">
              <a:lnSpc>
                <a:spcPts val="3204"/>
              </a:lnSpc>
              <a:buFont typeface="Arial"/>
              <a:buChar char="•"/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Delete "NOTA" records (not a candidate)</a:t>
            </a:r>
          </a:p>
          <a:p>
            <a:pPr algn="just">
              <a:lnSpc>
                <a:spcPts val="3204"/>
              </a:lnSpc>
            </a:pPr>
          </a:p>
          <a:p>
            <a:pPr algn="just">
              <a:lnSpc>
                <a:spcPts val="3204"/>
              </a:lnSpc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5. Convert to Numerical</a:t>
            </a:r>
          </a:p>
          <a:p>
            <a:pPr algn="just" marL="512438" indent="-256219" lvl="1">
              <a:lnSpc>
                <a:spcPts val="3204"/>
              </a:lnSpc>
              <a:buFont typeface="Arial"/>
              <a:buChar char="•"/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Age, Criminal, Votes → Int64</a:t>
            </a:r>
          </a:p>
          <a:p>
            <a:pPr algn="just" marL="512438" indent="-256219" lvl="1">
              <a:lnSpc>
                <a:spcPts val="3204"/>
              </a:lnSpc>
              <a:buFont typeface="Arial"/>
              <a:buChar char="•"/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Assets, Liabilities → Float64</a:t>
            </a:r>
          </a:p>
          <a:p>
            <a:pPr algn="just" marL="512438" indent="-256219" lvl="1">
              <a:lnSpc>
                <a:spcPts val="3204"/>
              </a:lnSpc>
              <a:buFont typeface="Arial"/>
              <a:buChar char="•"/>
            </a:pPr>
            <a:r>
              <a:rPr lang="en-US" sz="2373" spc="14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Winner → int (0/1) </a:t>
            </a:r>
          </a:p>
          <a:p>
            <a:pPr algn="just">
              <a:lnSpc>
                <a:spcPts val="3204"/>
              </a:lnSpc>
            </a:pPr>
          </a:p>
          <a:p>
            <a:pPr algn="just" marL="542659" indent="-180886" lvl="2">
              <a:lnSpc>
                <a:spcPts val="320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7493" y="3692426"/>
            <a:ext cx="17437364" cy="4543702"/>
          </a:xfrm>
          <a:custGeom>
            <a:avLst/>
            <a:gdLst/>
            <a:ahLst/>
            <a:cxnLst/>
            <a:rect r="r" b="b" t="t" l="l"/>
            <a:pathLst>
              <a:path h="4543702" w="17437364">
                <a:moveTo>
                  <a:pt x="0" y="0"/>
                </a:moveTo>
                <a:lnTo>
                  <a:pt x="17437364" y="0"/>
                </a:lnTo>
                <a:lnTo>
                  <a:pt x="17437364" y="4543702"/>
                </a:lnTo>
                <a:lnTo>
                  <a:pt x="0" y="4543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89" r="-47" b="-29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4479" y="822830"/>
            <a:ext cx="16378316" cy="378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9"/>
              </a:lnSpc>
            </a:pPr>
            <a:r>
              <a:rPr lang="en-US" b="true" sz="3207" spc="189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</a:t>
            </a:r>
            <a:r>
              <a:rPr lang="en-US" b="true" sz="3207" spc="189" u="none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in</a:t>
            </a:r>
            <a:r>
              <a:rPr lang="en-US" b="true" sz="3207" spc="189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al dataset :</a:t>
            </a:r>
          </a:p>
          <a:p>
            <a:pPr algn="just" marL="692463" indent="-346231" lvl="1">
              <a:lnSpc>
                <a:spcPts val="4329"/>
              </a:lnSpc>
              <a:buFont typeface="Arial"/>
              <a:buChar char="•"/>
            </a:pPr>
            <a:r>
              <a:rPr lang="en-US" sz="3207" spc="189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1682 candidates × 22 features</a:t>
            </a:r>
          </a:p>
          <a:p>
            <a:pPr algn="just" marL="692463" indent="-346231" lvl="1">
              <a:lnSpc>
                <a:spcPts val="4329"/>
              </a:lnSpc>
              <a:buFont typeface="Arial"/>
              <a:buChar char="•"/>
            </a:pPr>
            <a:r>
              <a:rPr lang="en-US" sz="3207" spc="189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All data types correct</a:t>
            </a:r>
          </a:p>
          <a:p>
            <a:pPr algn="just" marL="692463" indent="-346231" lvl="1">
              <a:lnSpc>
                <a:spcPts val="4329"/>
              </a:lnSpc>
              <a:buFont typeface="Arial"/>
              <a:buChar char="•"/>
            </a:pPr>
            <a:r>
              <a:rPr lang="en-US" sz="3207" spc="189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Ready for EDA</a:t>
            </a:r>
          </a:p>
          <a:p>
            <a:pPr algn="just" marL="692463" indent="-346231" lvl="1">
              <a:lnSpc>
                <a:spcPts val="4329"/>
              </a:lnSpc>
              <a:buFont typeface="Arial"/>
              <a:buChar char="•"/>
            </a:pPr>
            <a:r>
              <a:rPr lang="en-US" sz="3207" spc="189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Ready for ML modeling </a:t>
            </a:r>
          </a:p>
          <a:p>
            <a:pPr algn="just">
              <a:lnSpc>
                <a:spcPts val="4330"/>
              </a:lnSpc>
            </a:pPr>
          </a:p>
          <a:p>
            <a:pPr algn="just" marL="733301" indent="-244434" lvl="2">
              <a:lnSpc>
                <a:spcPts val="433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983155"/>
            <a:ext cx="15155940" cy="225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6"/>
              </a:lnSpc>
              <a:spcBef>
                <a:spcPct val="0"/>
              </a:spcBef>
            </a:pPr>
            <a:r>
              <a:rPr lang="en-US" b="true" sz="6981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3. EXPLORATORY DATA ANALYSIS(EDA)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595" y="400506"/>
            <a:ext cx="9324517" cy="7935869"/>
          </a:xfrm>
          <a:custGeom>
            <a:avLst/>
            <a:gdLst/>
            <a:ahLst/>
            <a:cxnLst/>
            <a:rect r="r" b="b" t="t" l="l"/>
            <a:pathLst>
              <a:path h="7935869" w="9324517">
                <a:moveTo>
                  <a:pt x="0" y="0"/>
                </a:moveTo>
                <a:lnTo>
                  <a:pt x="9324517" y="0"/>
                </a:lnTo>
                <a:lnTo>
                  <a:pt x="9324517" y="7935870"/>
                </a:lnTo>
                <a:lnTo>
                  <a:pt x="0" y="7935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02" t="-614" r="-341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46908" y="400506"/>
            <a:ext cx="7512392" cy="7818411"/>
          </a:xfrm>
          <a:custGeom>
            <a:avLst/>
            <a:gdLst/>
            <a:ahLst/>
            <a:cxnLst/>
            <a:rect r="r" b="b" t="t" l="l"/>
            <a:pathLst>
              <a:path h="7818411" w="7512392">
                <a:moveTo>
                  <a:pt x="0" y="0"/>
                </a:moveTo>
                <a:lnTo>
                  <a:pt x="7512392" y="0"/>
                </a:lnTo>
                <a:lnTo>
                  <a:pt x="7512392" y="7818412"/>
                </a:lnTo>
                <a:lnTo>
                  <a:pt x="0" y="78184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3" r="-4185" b="-5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595" y="8414517"/>
            <a:ext cx="14796229" cy="164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4"/>
              </a:lnSpc>
            </a:pPr>
            <a:r>
              <a:rPr lang="en-US" b="true" sz="1951" spc="115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Observation:</a:t>
            </a:r>
          </a:p>
          <a:p>
            <a:pPr algn="just">
              <a:lnSpc>
                <a:spcPts val="2634"/>
              </a:lnSpc>
            </a:pPr>
            <a:r>
              <a:rPr lang="en-US" sz="1951" spc="11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UP leads with 77 seats, then Maharashtra 48, WB 42. Small states/UTs have 1–2 seats only.</a:t>
            </a:r>
          </a:p>
          <a:p>
            <a:pPr algn="just">
              <a:lnSpc>
                <a:spcPts val="2634"/>
              </a:lnSpc>
            </a:pPr>
            <a:r>
              <a:rPr lang="en-US" sz="1951" spc="116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UP, Maharashtra, and Bihar have most voters. Telangana seats (like Hyderabad) have high voters. Small states have few.</a:t>
            </a:r>
          </a:p>
          <a:p>
            <a:pPr algn="just" marL="446196" indent="-148732" lvl="2">
              <a:lnSpc>
                <a:spcPts val="263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143500"/>
            <a:ext cx="12841438" cy="4195025"/>
          </a:xfrm>
          <a:custGeom>
            <a:avLst/>
            <a:gdLst/>
            <a:ahLst/>
            <a:cxnLst/>
            <a:rect r="r" b="b" t="t" l="l"/>
            <a:pathLst>
              <a:path h="4195025" w="12841438">
                <a:moveTo>
                  <a:pt x="0" y="0"/>
                </a:moveTo>
                <a:lnTo>
                  <a:pt x="12841438" y="0"/>
                </a:lnTo>
                <a:lnTo>
                  <a:pt x="12841438" y="4195025"/>
                </a:lnTo>
                <a:lnTo>
                  <a:pt x="0" y="4195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25978"/>
            <a:ext cx="12711545" cy="4152592"/>
          </a:xfrm>
          <a:custGeom>
            <a:avLst/>
            <a:gdLst/>
            <a:ahLst/>
            <a:cxnLst/>
            <a:rect r="r" b="b" t="t" l="l"/>
            <a:pathLst>
              <a:path h="4152592" w="12711545">
                <a:moveTo>
                  <a:pt x="0" y="0"/>
                </a:moveTo>
                <a:lnTo>
                  <a:pt x="12711545" y="0"/>
                </a:lnTo>
                <a:lnTo>
                  <a:pt x="12711545" y="4152591"/>
                </a:lnTo>
                <a:lnTo>
                  <a:pt x="0" y="4152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309950"/>
            <a:ext cx="16054126" cy="82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29"/>
              </a:lnSpc>
            </a:pPr>
            <a:r>
              <a:rPr lang="en-US" b="true" sz="1651" spc="97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Observation:</a:t>
            </a:r>
          </a:p>
          <a:p>
            <a:pPr algn="just">
              <a:lnSpc>
                <a:spcPts val="2229"/>
              </a:lnSpc>
            </a:pPr>
            <a:r>
              <a:rPr lang="en-US" sz="1651" spc="98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BJ</a:t>
            </a:r>
            <a:r>
              <a:rPr lang="en-US" sz="1651" spc="98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P secured the highest number of wins in 2024, followed by</a:t>
            </a:r>
            <a:r>
              <a:rPr lang="en-US" sz="1651" spc="98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INC and IND, while all other parties won significantly fewer seats</a:t>
            </a:r>
          </a:p>
          <a:p>
            <a:pPr algn="just" marL="377608" indent="-125869" lvl="2">
              <a:lnSpc>
                <a:spcPts val="222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21704"/>
            <a:ext cx="13960112" cy="72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38"/>
              </a:lnSpc>
            </a:pPr>
            <a:r>
              <a:rPr lang="en-US" b="true" sz="1436" spc="8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Observation:</a:t>
            </a:r>
          </a:p>
          <a:p>
            <a:pPr algn="just">
              <a:lnSpc>
                <a:spcPts val="1938"/>
              </a:lnSpc>
            </a:pPr>
            <a:r>
              <a:rPr lang="en-US" sz="1436" spc="8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BJ</a:t>
            </a:r>
            <a:r>
              <a:rPr lang="en-US" sz="1436" spc="8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P contested the most constituencies across nearly all st</a:t>
            </a:r>
            <a:r>
              <a:rPr lang="en-US" sz="1436" spc="8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ates, showing the widest political reach.</a:t>
            </a:r>
          </a:p>
          <a:p>
            <a:pPr algn="just" marL="328355" indent="-109452" lvl="2">
              <a:lnSpc>
                <a:spcPts val="193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6899" y="602816"/>
            <a:ext cx="12135707" cy="3964478"/>
          </a:xfrm>
          <a:custGeom>
            <a:avLst/>
            <a:gdLst/>
            <a:ahLst/>
            <a:cxnLst/>
            <a:rect r="r" b="b" t="t" l="l"/>
            <a:pathLst>
              <a:path h="3964478" w="12135707">
                <a:moveTo>
                  <a:pt x="0" y="0"/>
                </a:moveTo>
                <a:lnTo>
                  <a:pt x="12135708" y="0"/>
                </a:lnTo>
                <a:lnTo>
                  <a:pt x="12135708" y="3964478"/>
                </a:lnTo>
                <a:lnTo>
                  <a:pt x="0" y="39644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6899" y="5218661"/>
            <a:ext cx="12135707" cy="3964478"/>
          </a:xfrm>
          <a:custGeom>
            <a:avLst/>
            <a:gdLst/>
            <a:ahLst/>
            <a:cxnLst/>
            <a:rect r="r" b="b" t="t" l="l"/>
            <a:pathLst>
              <a:path h="3964478" w="12135707">
                <a:moveTo>
                  <a:pt x="0" y="0"/>
                </a:moveTo>
                <a:lnTo>
                  <a:pt x="12135708" y="0"/>
                </a:lnTo>
                <a:lnTo>
                  <a:pt x="12135708" y="3964478"/>
                </a:lnTo>
                <a:lnTo>
                  <a:pt x="0" y="3964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96899" y="9229725"/>
            <a:ext cx="16054126" cy="54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29"/>
              </a:lnSpc>
            </a:pPr>
            <a:r>
              <a:rPr lang="en-US" b="true" sz="1651" spc="98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Observation: </a:t>
            </a:r>
            <a:r>
              <a:rPr lang="en-US" sz="1651" spc="98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Male c</a:t>
            </a:r>
            <a:r>
              <a:rPr lang="en-US" sz="1651" spc="98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andidates show overwhelmingly higher participation and winning counts compared to females.</a:t>
            </a:r>
          </a:p>
          <a:p>
            <a:pPr algn="just" marL="377608" indent="-125869" lvl="2">
              <a:lnSpc>
                <a:spcPts val="222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96899" y="4624444"/>
            <a:ext cx="16305586" cy="51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0"/>
              </a:lnSpc>
            </a:pPr>
            <a:r>
              <a:rPr lang="en-US" b="true" sz="1585" spc="9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Observation:</a:t>
            </a:r>
            <a:r>
              <a:rPr lang="en-US" sz="1585" spc="9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Independent candidates contested the most but had the highest losses, while BJP</a:t>
            </a:r>
            <a:r>
              <a:rPr lang="en-US" sz="1585" spc="9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and INC achieved relatively better win ratios.</a:t>
            </a:r>
          </a:p>
          <a:p>
            <a:pPr algn="just" marL="362413" indent="-120804" lvl="2">
              <a:lnSpc>
                <a:spcPts val="214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4901" y="445791"/>
            <a:ext cx="12135707" cy="3964478"/>
          </a:xfrm>
          <a:custGeom>
            <a:avLst/>
            <a:gdLst/>
            <a:ahLst/>
            <a:cxnLst/>
            <a:rect r="r" b="b" t="t" l="l"/>
            <a:pathLst>
              <a:path h="3964478" w="12135707">
                <a:moveTo>
                  <a:pt x="0" y="0"/>
                </a:moveTo>
                <a:lnTo>
                  <a:pt x="12135707" y="0"/>
                </a:lnTo>
                <a:lnTo>
                  <a:pt x="12135707" y="3964478"/>
                </a:lnTo>
                <a:lnTo>
                  <a:pt x="0" y="39644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4901" y="4410269"/>
            <a:ext cx="12135707" cy="3964478"/>
          </a:xfrm>
          <a:custGeom>
            <a:avLst/>
            <a:gdLst/>
            <a:ahLst/>
            <a:cxnLst/>
            <a:rect r="r" b="b" t="t" l="l"/>
            <a:pathLst>
              <a:path h="3964478" w="12135707">
                <a:moveTo>
                  <a:pt x="0" y="0"/>
                </a:moveTo>
                <a:lnTo>
                  <a:pt x="12135707" y="0"/>
                </a:lnTo>
                <a:lnTo>
                  <a:pt x="12135707" y="3964478"/>
                </a:lnTo>
                <a:lnTo>
                  <a:pt x="0" y="3964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4901" y="8655868"/>
            <a:ext cx="16054126" cy="117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4"/>
              </a:lnSpc>
            </a:pPr>
            <a:r>
              <a:rPr lang="en-US" b="true" sz="1751" spc="10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Observation:</a:t>
            </a:r>
            <a:r>
              <a:rPr lang="en-US" sz="1751" spc="10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751" spc="10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Most nominees </a:t>
            </a:r>
            <a:r>
              <a:rPr lang="en-US" sz="1751" spc="10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and winners are graduates or postgraduates, but the proportion of higher-educated individuals (postgraduates and professionals) is slightly higher among winners, indicating education level positively influences electoral success.</a:t>
            </a:r>
          </a:p>
          <a:p>
            <a:pPr algn="just" marL="400471" indent="-133490" lvl="2">
              <a:lnSpc>
                <a:spcPts val="2364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4540" y="212851"/>
            <a:ext cx="12130887" cy="3970108"/>
          </a:xfrm>
          <a:custGeom>
            <a:avLst/>
            <a:gdLst/>
            <a:ahLst/>
            <a:cxnLst/>
            <a:rect r="r" b="b" t="t" l="l"/>
            <a:pathLst>
              <a:path h="3970108" w="12130887">
                <a:moveTo>
                  <a:pt x="0" y="0"/>
                </a:moveTo>
                <a:lnTo>
                  <a:pt x="12130887" y="0"/>
                </a:lnTo>
                <a:lnTo>
                  <a:pt x="12130887" y="3970109"/>
                </a:lnTo>
                <a:lnTo>
                  <a:pt x="0" y="3970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4540" y="5143500"/>
            <a:ext cx="12135707" cy="3964478"/>
          </a:xfrm>
          <a:custGeom>
            <a:avLst/>
            <a:gdLst/>
            <a:ahLst/>
            <a:cxnLst/>
            <a:rect r="r" b="b" t="t" l="l"/>
            <a:pathLst>
              <a:path h="3964478" w="12135707">
                <a:moveTo>
                  <a:pt x="0" y="0"/>
                </a:moveTo>
                <a:lnTo>
                  <a:pt x="12135708" y="0"/>
                </a:lnTo>
                <a:lnTo>
                  <a:pt x="12135708" y="3964478"/>
                </a:lnTo>
                <a:lnTo>
                  <a:pt x="0" y="3964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64540" y="9229725"/>
            <a:ext cx="16054126" cy="58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4"/>
              </a:lnSpc>
            </a:pPr>
            <a:r>
              <a:rPr lang="en-US" b="true" sz="1751" spc="10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Observation: </a:t>
            </a:r>
            <a:r>
              <a:rPr lang="en-US" sz="1751" spc="10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Majority of politici</a:t>
            </a:r>
            <a:r>
              <a:rPr lang="en-US" sz="1751" spc="10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ans fall between the ages of 40–60, with males significantly outnumbering females..</a:t>
            </a:r>
          </a:p>
          <a:p>
            <a:pPr algn="just" marL="400471" indent="-133490" lvl="2">
              <a:lnSpc>
                <a:spcPts val="236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64540" y="4393426"/>
            <a:ext cx="16054126" cy="147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4"/>
              </a:lnSpc>
            </a:pPr>
            <a:r>
              <a:rPr lang="en-US" b="true" sz="1751" spc="103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Observation: </a:t>
            </a:r>
            <a:r>
              <a:rPr lang="en-US" sz="1751" spc="103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Candidates from the General category dominate both participation and win counts compared to SC and ST categories.</a:t>
            </a:r>
          </a:p>
          <a:p>
            <a:pPr algn="just">
              <a:lnSpc>
                <a:spcPts val="2364"/>
              </a:lnSpc>
            </a:pPr>
          </a:p>
          <a:p>
            <a:pPr algn="just">
              <a:lnSpc>
                <a:spcPts val="2364"/>
              </a:lnSpc>
            </a:pPr>
          </a:p>
          <a:p>
            <a:pPr algn="just" marL="400471" indent="-133490" lvl="2">
              <a:lnSpc>
                <a:spcPts val="2364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6290" y="5402492"/>
            <a:ext cx="12664994" cy="3970108"/>
          </a:xfrm>
          <a:custGeom>
            <a:avLst/>
            <a:gdLst/>
            <a:ahLst/>
            <a:cxnLst/>
            <a:rect r="r" b="b" t="t" l="l"/>
            <a:pathLst>
              <a:path h="3970108" w="12664994">
                <a:moveTo>
                  <a:pt x="0" y="0"/>
                </a:moveTo>
                <a:lnTo>
                  <a:pt x="12664994" y="0"/>
                </a:lnTo>
                <a:lnTo>
                  <a:pt x="12664994" y="3970108"/>
                </a:lnTo>
                <a:lnTo>
                  <a:pt x="0" y="3970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01" r="0" b="-220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14125"/>
            <a:ext cx="12664994" cy="3964478"/>
          </a:xfrm>
          <a:custGeom>
            <a:avLst/>
            <a:gdLst/>
            <a:ahLst/>
            <a:cxnLst/>
            <a:rect r="r" b="b" t="t" l="l"/>
            <a:pathLst>
              <a:path h="3964478" w="12664994">
                <a:moveTo>
                  <a:pt x="0" y="0"/>
                </a:moveTo>
                <a:lnTo>
                  <a:pt x="12664994" y="0"/>
                </a:lnTo>
                <a:lnTo>
                  <a:pt x="12664994" y="3964478"/>
                </a:lnTo>
                <a:lnTo>
                  <a:pt x="0" y="3964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80" r="0" b="-218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6290" y="9458325"/>
            <a:ext cx="16054126" cy="29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4"/>
              </a:lnSpc>
            </a:pPr>
            <a:r>
              <a:rPr lang="en-US" b="true" sz="1751" spc="10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Observation: </a:t>
            </a:r>
            <a:r>
              <a:rPr lang="en-US" sz="1751" spc="10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Assets vs Li</a:t>
            </a:r>
            <a:r>
              <a:rPr lang="en-US" sz="1751" spc="10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abilities Andhra Pradesh politici</a:t>
            </a:r>
            <a:r>
              <a:rPr lang="en-US" sz="1751" spc="10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ans show the highest assets and liabilities among all states.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6290" y="4407178"/>
            <a:ext cx="16054126" cy="88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4"/>
              </a:lnSpc>
            </a:pPr>
            <a:r>
              <a:rPr lang="en-US" b="true" sz="1751" spc="10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Observation:  </a:t>
            </a:r>
            <a:r>
              <a:rPr lang="en-US" sz="1751" spc="10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Many politicians have been associated with criminal activities. Always these c</a:t>
            </a:r>
            <a:r>
              <a:rPr lang="en-US" sz="1751" spc="10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ases pressed need not be genuine, but obviously, when its multiple- this is </a:t>
            </a:r>
            <a:r>
              <a:rPr lang="en-US" sz="1751" spc="10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 serious issue. We must take the responsibility while voting, as its our duty to choose the right person- as a duty towards the nation.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8451" y="117063"/>
            <a:ext cx="15155940" cy="111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6"/>
              </a:lnSpc>
              <a:spcBef>
                <a:spcPct val="0"/>
              </a:spcBef>
            </a:pPr>
            <a:r>
              <a:rPr lang="en-US" b="true" sz="6981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4.Machine Learning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8451" y="1422768"/>
            <a:ext cx="17020992" cy="834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5"/>
              </a:lnSpc>
            </a:pPr>
            <a:r>
              <a:rPr lang="en-US" b="true" sz="3107" spc="183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M</a:t>
            </a:r>
            <a:r>
              <a:rPr lang="en-US" b="true" sz="3107" spc="183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odel Training &amp; Feature</a:t>
            </a:r>
            <a:r>
              <a:rPr lang="en-US" b="true" sz="3107" spc="183" u="none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Pr</a:t>
            </a:r>
            <a:r>
              <a:rPr lang="en-US" b="true" sz="3107" spc="183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eparation</a:t>
            </a:r>
          </a:p>
          <a:p>
            <a:pPr algn="just">
              <a:lnSpc>
                <a:spcPts val="3908"/>
              </a:lnSpc>
            </a:pPr>
            <a:r>
              <a:rPr lang="en-US" b="true" sz="2894" spc="170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Categorical encoding</a:t>
            </a:r>
            <a:r>
              <a:rPr lang="en-US" sz="2894" spc="17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:</a:t>
            </a:r>
          </a:p>
          <a:p>
            <a:pPr algn="just" marL="624106" indent="-312053" lvl="1">
              <a:lnSpc>
                <a:spcPts val="3902"/>
              </a:lnSpc>
              <a:buFont typeface="Arial"/>
              <a:buChar char="•"/>
            </a:pPr>
            <a:r>
              <a:rPr lang="en-US" sz="2890" spc="17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GENDER: MALE→1, FEMALE→2 (bina</a:t>
            </a:r>
            <a:r>
              <a:rPr lang="en-US" sz="2890" spc="17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ry)</a:t>
            </a:r>
          </a:p>
          <a:p>
            <a:pPr algn="just" marL="624106" indent="-312053" lvl="1">
              <a:lnSpc>
                <a:spcPts val="3902"/>
              </a:lnSpc>
              <a:buFont typeface="Arial"/>
              <a:buChar char="•"/>
            </a:pPr>
            <a:r>
              <a:rPr lang="en-US" sz="2890" spc="17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CATEGORY: GENERAL→1</a:t>
            </a:r>
            <a:r>
              <a:rPr lang="en-US" sz="2890" spc="17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, SC→2, ST→3, OBC→4 (ordin</a:t>
            </a:r>
            <a:r>
              <a:rPr lang="en-US" sz="2890" spc="17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al)</a:t>
            </a:r>
          </a:p>
          <a:p>
            <a:pPr algn="just" marL="624106" indent="-312053" lvl="1">
              <a:lnSpc>
                <a:spcPts val="3902"/>
              </a:lnSpc>
              <a:buFont typeface="Arial"/>
              <a:buChar char="•"/>
            </a:pPr>
            <a:r>
              <a:rPr lang="en-US" sz="2890" spc="170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PARTY: 252 uniqu</a:t>
            </a:r>
            <a:r>
              <a:rPr lang="en-US" sz="2890" spc="17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e parties → encoded 1-252</a:t>
            </a:r>
          </a:p>
          <a:p>
            <a:pPr algn="just" marL="624106" indent="-312053" lvl="1">
              <a:lnSpc>
                <a:spcPts val="3902"/>
              </a:lnSpc>
              <a:buFont typeface="Arial"/>
              <a:buChar char="•"/>
            </a:pPr>
            <a:r>
              <a:rPr lang="en-US" sz="2890" spc="17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EDUCATION: 12 education levels → encoded 1-12</a:t>
            </a:r>
          </a:p>
          <a:p>
            <a:pPr algn="just">
              <a:lnSpc>
                <a:spcPts val="3908"/>
              </a:lnSpc>
            </a:pPr>
            <a:r>
              <a:rPr lang="en-US" b="true" sz="2894" spc="170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Feature selection (14 features)</a:t>
            </a:r>
            <a:r>
              <a:rPr lang="en-US" sz="2894" spc="17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:STATE, CONSTITUENCY, PARTY, SYMBOL, GENDER, AGE, CATEGORY, EDUCATION, CRIMINAL CASES, TOTAL VOTES, TOTAL ELECTORS, ASSETS, LIABILITIES, WINNER</a:t>
            </a:r>
          </a:p>
          <a:p>
            <a:pPr algn="just">
              <a:lnSpc>
                <a:spcPts val="3902"/>
              </a:lnSpc>
            </a:pPr>
            <a:r>
              <a:rPr lang="en-US" b="true" sz="2890" spc="170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One-Hot Encoding:</a:t>
            </a:r>
            <a:r>
              <a:rPr lang="en-US" sz="2890" spc="17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2890" spc="17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14 → 600+ features</a:t>
            </a:r>
          </a:p>
          <a:p>
            <a:pPr algn="just">
              <a:lnSpc>
                <a:spcPts val="3902"/>
              </a:lnSpc>
            </a:pPr>
            <a:r>
              <a:rPr lang="en-US" b="true" sz="2890" spc="170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</a:t>
            </a:r>
            <a:r>
              <a:rPr lang="en-US" b="true" sz="2890" spc="170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eature scaling(Z-score normalization):</a:t>
            </a:r>
          </a:p>
          <a:p>
            <a:pPr algn="just" marL="624106" indent="-312053" lvl="1">
              <a:lnSpc>
                <a:spcPts val="3902"/>
              </a:lnSpc>
              <a:buFont typeface="Arial"/>
              <a:buChar char="•"/>
            </a:pPr>
            <a:r>
              <a:rPr lang="en-US" sz="2890" spc="17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Result: All features have mean=0, std=1</a:t>
            </a:r>
          </a:p>
          <a:p>
            <a:pPr algn="just" marL="624106" indent="-312053" lvl="1">
              <a:lnSpc>
                <a:spcPts val="3902"/>
              </a:lnSpc>
              <a:buFont typeface="Arial"/>
              <a:buChar char="•"/>
            </a:pPr>
            <a:r>
              <a:rPr lang="en-US" sz="2890" spc="17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Why: Equalizes feature importance, accelerates learning</a:t>
            </a:r>
          </a:p>
          <a:p>
            <a:pPr algn="just">
              <a:lnSpc>
                <a:spcPts val="3902"/>
              </a:lnSpc>
            </a:pPr>
            <a:r>
              <a:rPr lang="en-US" b="true" sz="2890" spc="170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Cla</a:t>
            </a:r>
            <a:r>
              <a:rPr lang="en-US" b="true" sz="2890" spc="170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ss imbalance handling (Oversampling):</a:t>
            </a:r>
          </a:p>
          <a:p>
            <a:pPr algn="just" marL="624106" indent="-312053" lvl="1">
              <a:lnSpc>
                <a:spcPts val="3902"/>
              </a:lnSpc>
              <a:buFont typeface="Arial"/>
              <a:buChar char="•"/>
            </a:pPr>
            <a:r>
              <a:rPr lang="en-US" sz="2890" spc="17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Method: Random oversampling with replacement</a:t>
            </a:r>
          </a:p>
          <a:p>
            <a:pPr algn="just">
              <a:lnSpc>
                <a:spcPts val="3902"/>
              </a:lnSpc>
            </a:pPr>
            <a:r>
              <a:rPr lang="en-US" b="true" sz="2890" spc="172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Pr</a:t>
            </a:r>
            <a:r>
              <a:rPr lang="en-US" b="true" sz="2890" spc="172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epare X(Input) &amp; y(target) for modeling</a:t>
            </a:r>
          </a:p>
          <a:p>
            <a:pPr algn="just" marL="660913" indent="-220304" lvl="2">
              <a:lnSpc>
                <a:spcPts val="3902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21412" y="0"/>
            <a:ext cx="9566588" cy="4906773"/>
          </a:xfrm>
          <a:custGeom>
            <a:avLst/>
            <a:gdLst/>
            <a:ahLst/>
            <a:cxnLst/>
            <a:rect r="r" b="b" t="t" l="l"/>
            <a:pathLst>
              <a:path h="4906773" w="9566588">
                <a:moveTo>
                  <a:pt x="0" y="0"/>
                </a:moveTo>
                <a:lnTo>
                  <a:pt x="9566588" y="0"/>
                </a:lnTo>
                <a:lnTo>
                  <a:pt x="9566588" y="4906773"/>
                </a:lnTo>
                <a:lnTo>
                  <a:pt x="0" y="4906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100" r="-1133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0694" y="20508"/>
            <a:ext cx="8550718" cy="716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28"/>
              </a:lnSpc>
            </a:pPr>
            <a:r>
              <a:rPr lang="en-US" b="true" sz="2613" spc="15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Hyperparamet</a:t>
            </a:r>
            <a:r>
              <a:rPr lang="en-US" b="true" sz="2613" spc="15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er Tuning:</a:t>
            </a:r>
          </a:p>
          <a:p>
            <a:pPr algn="just" marL="564250" indent="-282125" lvl="1">
              <a:lnSpc>
                <a:spcPts val="3528"/>
              </a:lnSpc>
              <a:buFont typeface="Arial"/>
              <a:buChar char="•"/>
            </a:pPr>
            <a:r>
              <a:rPr lang="en-US" sz="2613" spc="15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Objective:</a:t>
            </a:r>
            <a:r>
              <a:rPr lang="en-US" sz="2613" spc="154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Find o</a:t>
            </a:r>
            <a:r>
              <a:rPr lang="en-US" sz="2613" spc="15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ptimal n_estimators</a:t>
            </a:r>
          </a:p>
          <a:p>
            <a:pPr algn="just" marL="564250" indent="-282125" lvl="1">
              <a:lnSpc>
                <a:spcPts val="3528"/>
              </a:lnSpc>
              <a:buFont typeface="Arial"/>
              <a:buChar char="•"/>
            </a:pPr>
            <a:r>
              <a:rPr lang="en-US" sz="2613" spc="15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Tested: 1-59 trees via 10-fold c</a:t>
            </a:r>
            <a:r>
              <a:rPr lang="en-US" sz="2613" spc="154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</a:t>
            </a:r>
            <a:r>
              <a:rPr lang="en-US" sz="2613" spc="15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oss-validation</a:t>
            </a:r>
          </a:p>
          <a:p>
            <a:pPr algn="just" marL="564250" indent="-282125" lvl="1">
              <a:lnSpc>
                <a:spcPts val="3528"/>
              </a:lnSpc>
              <a:buFont typeface="Arial"/>
              <a:buChar char="•"/>
            </a:pPr>
            <a:r>
              <a:rPr lang="en-US" sz="2613" spc="15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</a:t>
            </a:r>
            <a:r>
              <a:rPr lang="en-US" sz="2613" spc="15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esults: Accuracy plateaus at 30-40 trees</a:t>
            </a:r>
          </a:p>
          <a:p>
            <a:pPr algn="just" marL="564250" indent="-282125" lvl="1">
              <a:lnSpc>
                <a:spcPts val="3528"/>
              </a:lnSpc>
              <a:buFont typeface="Arial"/>
              <a:buChar char="•"/>
            </a:pPr>
            <a:r>
              <a:rPr lang="en-US" sz="2613" spc="15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S</a:t>
            </a:r>
            <a:r>
              <a:rPr lang="en-US" sz="2613" spc="15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elected: 38 trees (93.8% CV accuracy)</a:t>
            </a:r>
          </a:p>
          <a:p>
            <a:pPr algn="just" marL="564250" indent="-282125" lvl="1">
              <a:lnSpc>
                <a:spcPts val="3528"/>
              </a:lnSpc>
              <a:buFont typeface="Arial"/>
              <a:buChar char="•"/>
            </a:pPr>
            <a:r>
              <a:rPr lang="en-US" sz="2613" spc="15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Why</a:t>
            </a:r>
            <a:r>
              <a:rPr lang="en-US" sz="2613" spc="15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38? Perfect balance, marginal gains beyond 40</a:t>
            </a:r>
          </a:p>
          <a:p>
            <a:pPr algn="just" marL="564250" indent="-282125" lvl="1">
              <a:lnSpc>
                <a:spcPts val="3528"/>
              </a:lnSpc>
              <a:buFont typeface="Arial"/>
              <a:buChar char="•"/>
            </a:pPr>
            <a:r>
              <a:rPr lang="en-US" b="true" sz="2613" spc="15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Implications:</a:t>
            </a:r>
          </a:p>
          <a:p>
            <a:pPr algn="just" marL="564250" indent="-282125" lvl="1">
              <a:lnSpc>
                <a:spcPts val="3528"/>
              </a:lnSpc>
              <a:buFont typeface="Arial"/>
              <a:buChar char="•"/>
            </a:pPr>
            <a:r>
              <a:rPr lang="en-US" sz="2613" spc="15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Model robustness with consistent generalization</a:t>
            </a:r>
          </a:p>
          <a:p>
            <a:pPr algn="just" marL="564250" indent="-282125" lvl="1">
              <a:lnSpc>
                <a:spcPts val="3528"/>
              </a:lnSpc>
              <a:buFont typeface="Arial"/>
              <a:buChar char="•"/>
            </a:pPr>
            <a:r>
              <a:rPr lang="en-US" sz="2613" spc="15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Computational efficiency for production deployment</a:t>
            </a:r>
          </a:p>
          <a:p>
            <a:pPr algn="just" marL="564250" indent="-282125" lvl="1">
              <a:lnSpc>
                <a:spcPts val="3528"/>
              </a:lnSpc>
              <a:buFont typeface="Arial"/>
              <a:buChar char="•"/>
            </a:pPr>
            <a:r>
              <a:rPr lang="en-US" sz="2613" spc="156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Reduced model complexity for faster inference</a:t>
            </a:r>
          </a:p>
          <a:p>
            <a:pPr algn="just" marL="597528" indent="-199176" lvl="2">
              <a:lnSpc>
                <a:spcPts val="352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0694" y="7133507"/>
            <a:ext cx="13334012" cy="270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58"/>
              </a:lnSpc>
            </a:pPr>
            <a:r>
              <a:rPr lang="en-US" b="true" sz="2636" spc="155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Model Configuration &amp;</a:t>
            </a:r>
            <a:r>
              <a:rPr lang="en-US" b="true" sz="2636" spc="155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Training:</a:t>
            </a:r>
          </a:p>
          <a:p>
            <a:pPr algn="just" marL="569116" indent="-284558" lvl="1">
              <a:lnSpc>
                <a:spcPts val="3558"/>
              </a:lnSpc>
              <a:buFont typeface="Arial"/>
              <a:buChar char="•"/>
            </a:pPr>
            <a:r>
              <a:rPr lang="en-US" sz="2636" spc="15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S</a:t>
            </a:r>
            <a:r>
              <a:rPr lang="en-US" sz="2636" spc="15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etup:</a:t>
            </a:r>
            <a:r>
              <a:rPr lang="en-US" sz="2636" spc="155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38 </a:t>
            </a:r>
            <a:r>
              <a:rPr lang="en-US" sz="2636" spc="15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trees, random_state=0, parallel p</a:t>
            </a:r>
            <a:r>
              <a:rPr lang="en-US" sz="2636" spc="155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</a:t>
            </a:r>
            <a:r>
              <a:rPr lang="en-US" sz="2636" spc="15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ocessing</a:t>
            </a:r>
          </a:p>
          <a:p>
            <a:pPr algn="just" marL="569116" indent="-284558" lvl="1">
              <a:lnSpc>
                <a:spcPts val="3558"/>
              </a:lnSpc>
              <a:buFont typeface="Arial"/>
              <a:buChar char="•"/>
            </a:pPr>
            <a:r>
              <a:rPr lang="en-US" sz="2636" spc="15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Train-Test Split: 75% (2,091) training, 25% (697) testing</a:t>
            </a:r>
          </a:p>
          <a:p>
            <a:pPr algn="just" marL="569116" indent="-284558" lvl="1">
              <a:lnSpc>
                <a:spcPts val="3558"/>
              </a:lnSpc>
              <a:buFont typeface="Arial"/>
              <a:buChar char="•"/>
            </a:pPr>
            <a:r>
              <a:rPr lang="en-US" sz="2636" spc="15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Stratified s</a:t>
            </a:r>
            <a:r>
              <a:rPr lang="en-US" sz="2636" spc="15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plit maintains 50-50 class balance</a:t>
            </a:r>
          </a:p>
          <a:p>
            <a:pPr algn="just" marL="569116" indent="-284558" lvl="1">
              <a:lnSpc>
                <a:spcPts val="3558"/>
              </a:lnSpc>
              <a:buFont typeface="Arial"/>
              <a:buChar char="•"/>
            </a:pPr>
            <a:r>
              <a:rPr lang="en-US" sz="2636" spc="15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Training process: 38 independent trees learning patterns</a:t>
            </a:r>
          </a:p>
          <a:p>
            <a:pPr algn="just" marL="602680" indent="-200893" lvl="2">
              <a:lnSpc>
                <a:spcPts val="3558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7346" y="2801794"/>
            <a:ext cx="7452108" cy="6032708"/>
          </a:xfrm>
          <a:custGeom>
            <a:avLst/>
            <a:gdLst/>
            <a:ahLst/>
            <a:cxnLst/>
            <a:rect r="r" b="b" t="t" l="l"/>
            <a:pathLst>
              <a:path h="6032708" w="7452108">
                <a:moveTo>
                  <a:pt x="0" y="0"/>
                </a:moveTo>
                <a:lnTo>
                  <a:pt x="7452108" y="0"/>
                </a:lnTo>
                <a:lnTo>
                  <a:pt x="7452108" y="6032708"/>
                </a:lnTo>
                <a:lnTo>
                  <a:pt x="0" y="6032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74" t="0" r="-1374" b="-237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6719" y="436882"/>
            <a:ext cx="16635134" cy="2570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4"/>
              </a:lnSpc>
            </a:pPr>
            <a:r>
              <a:rPr lang="en-US" b="true" sz="3062" spc="180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Generating P</a:t>
            </a:r>
            <a:r>
              <a:rPr lang="en-US" b="true" sz="3062" spc="180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redictions:</a:t>
            </a:r>
          </a:p>
          <a:p>
            <a:pPr algn="just" marL="661284" indent="-330642" lvl="1">
              <a:lnSpc>
                <a:spcPts val="4134"/>
              </a:lnSpc>
              <a:buFont typeface="Arial"/>
              <a:buChar char="•"/>
            </a:pPr>
            <a:r>
              <a:rPr lang="en-US" sz="3062" spc="18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Ha</a:t>
            </a:r>
            <a:r>
              <a:rPr lang="en-US" sz="3062" spc="18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rd predictions: Binary 0 or 1 (majority vote from 38 trees)</a:t>
            </a:r>
          </a:p>
          <a:p>
            <a:pPr algn="just" marL="661284" indent="-330642" lvl="1">
              <a:lnSpc>
                <a:spcPts val="4134"/>
              </a:lnSpc>
              <a:buFont typeface="Arial"/>
              <a:buChar char="•"/>
            </a:pPr>
            <a:r>
              <a:rPr lang="en-US" sz="3062" spc="18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Soft probabi</a:t>
            </a:r>
            <a:r>
              <a:rPr lang="en-US" sz="3062" spc="180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lities: 0.0-1.0 confidence levels (% trees voting winner)</a:t>
            </a:r>
          </a:p>
          <a:p>
            <a:pPr algn="just" marL="661284" indent="-330642" lvl="1">
              <a:lnSpc>
                <a:spcPts val="4135"/>
              </a:lnSpc>
              <a:buFont typeface="Arial"/>
              <a:buChar char="•"/>
            </a:pPr>
            <a:r>
              <a:rPr lang="en-US" sz="3062" spc="183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Example: 32/38 trees → 84.2% probability of winning</a:t>
            </a:r>
          </a:p>
          <a:p>
            <a:pPr algn="just" marL="700284" indent="-233428" lvl="2">
              <a:lnSpc>
                <a:spcPts val="413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77806" y="4120959"/>
            <a:ext cx="8181576" cy="334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54"/>
              </a:lnSpc>
            </a:pPr>
            <a:r>
              <a:rPr lang="en-US" b="true" sz="3299" spc="19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Model Performan</a:t>
            </a:r>
            <a:r>
              <a:rPr lang="en-US" b="true" sz="3299" spc="19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ce Evaluation:</a:t>
            </a:r>
          </a:p>
          <a:p>
            <a:pPr algn="just" marL="712335" indent="-356168" lvl="1">
              <a:lnSpc>
                <a:spcPts val="4454"/>
              </a:lnSpc>
              <a:buFont typeface="Arial"/>
              <a:buChar char="•"/>
            </a:pPr>
            <a:r>
              <a:rPr lang="en-US" sz="3299" spc="19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Co</a:t>
            </a:r>
            <a:r>
              <a:rPr lang="en-US" sz="3299" spc="19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rrect: 660 (94.69%)</a:t>
            </a:r>
          </a:p>
          <a:p>
            <a:pPr algn="just" marL="712335" indent="-356168" lvl="1">
              <a:lnSpc>
                <a:spcPts val="4454"/>
              </a:lnSpc>
              <a:buFont typeface="Arial"/>
              <a:buChar char="•"/>
            </a:pPr>
            <a:r>
              <a:rPr lang="en-US" sz="3299" spc="19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Errors: 37 (5.31%)</a:t>
            </a:r>
          </a:p>
          <a:p>
            <a:pPr algn="just" marL="712335" indent="-356168" lvl="1">
              <a:lnSpc>
                <a:spcPts val="4454"/>
              </a:lnSpc>
              <a:buFont typeface="Arial"/>
              <a:buChar char="•"/>
            </a:pPr>
            <a:r>
              <a:rPr lang="en-US" sz="3299" spc="19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FP: 32 (8.53% false alarms)</a:t>
            </a:r>
          </a:p>
          <a:p>
            <a:pPr algn="just" marL="712335" indent="-356168" lvl="1">
              <a:lnSpc>
                <a:spcPts val="4454"/>
              </a:lnSpc>
              <a:buFont typeface="Arial"/>
              <a:buChar char="•"/>
            </a:pPr>
            <a:r>
              <a:rPr lang="en-US" sz="3299" spc="19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FN: 5 (1.44% miss rate)</a:t>
            </a:r>
          </a:p>
          <a:p>
            <a:pPr algn="just" marL="754346" indent="-251449" lvl="2">
              <a:lnSpc>
                <a:spcPts val="4454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89416" y="1028700"/>
            <a:ext cx="10998584" cy="3356953"/>
          </a:xfrm>
          <a:custGeom>
            <a:avLst/>
            <a:gdLst/>
            <a:ahLst/>
            <a:cxnLst/>
            <a:rect r="r" b="b" t="t" l="l"/>
            <a:pathLst>
              <a:path h="3356953" w="10998584">
                <a:moveTo>
                  <a:pt x="0" y="0"/>
                </a:moveTo>
                <a:lnTo>
                  <a:pt x="10998584" y="0"/>
                </a:lnTo>
                <a:lnTo>
                  <a:pt x="10998584" y="3356953"/>
                </a:lnTo>
                <a:lnTo>
                  <a:pt x="0" y="33569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03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89416" y="4844338"/>
            <a:ext cx="10731363" cy="3603525"/>
          </a:xfrm>
          <a:custGeom>
            <a:avLst/>
            <a:gdLst/>
            <a:ahLst/>
            <a:cxnLst/>
            <a:rect r="r" b="b" t="t" l="l"/>
            <a:pathLst>
              <a:path h="3603525" w="10731363">
                <a:moveTo>
                  <a:pt x="0" y="0"/>
                </a:moveTo>
                <a:lnTo>
                  <a:pt x="10731363" y="0"/>
                </a:lnTo>
                <a:lnTo>
                  <a:pt x="10731363" y="3603525"/>
                </a:lnTo>
                <a:lnTo>
                  <a:pt x="0" y="360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21" t="-6750" r="-740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4100" y="1260311"/>
            <a:ext cx="6924405" cy="286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8"/>
              </a:lnSpc>
            </a:pPr>
            <a:r>
              <a:rPr lang="en-US" b="true" sz="2117" spc="12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ROC-AUC (0.9969 =</a:t>
            </a:r>
            <a:r>
              <a:rPr lang="en-US" b="true" sz="2117" spc="124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99.69%)  NEAR-PERFECT</a:t>
            </a:r>
          </a:p>
          <a:p>
            <a:pPr algn="just" marL="457170" indent="-228585" lvl="1">
              <a:lnSpc>
                <a:spcPts val="2858"/>
              </a:lnSpc>
              <a:buFont typeface="Arial"/>
              <a:buChar char="•"/>
            </a:pPr>
            <a:r>
              <a:rPr lang="en-US" sz="2117" spc="12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Meaning:</a:t>
            </a:r>
            <a:r>
              <a:rPr lang="en-US" sz="2117" spc="124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99.69%</a:t>
            </a:r>
            <a:r>
              <a:rPr lang="en-US" sz="2117" spc="12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probability model ranks random winner above r</a:t>
            </a:r>
            <a:r>
              <a:rPr lang="en-US" sz="2117" spc="12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andom loser</a:t>
            </a:r>
          </a:p>
          <a:p>
            <a:pPr algn="just" marL="457170" indent="-228585" lvl="1">
              <a:lnSpc>
                <a:spcPts val="2858"/>
              </a:lnSpc>
              <a:buFont typeface="Arial"/>
              <a:buChar char="•"/>
            </a:pPr>
            <a:r>
              <a:rPr lang="en-US" sz="2117" spc="124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AUC Benchmark: 0.95+ is near-perfect</a:t>
            </a:r>
          </a:p>
          <a:p>
            <a:pPr algn="just" marL="457170" indent="-228585" lvl="1">
              <a:lnSpc>
                <a:spcPts val="2858"/>
              </a:lnSpc>
              <a:buFont typeface="Arial"/>
              <a:buChar char="•"/>
            </a:pPr>
            <a:r>
              <a:rPr lang="en-US" sz="2117" spc="126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Interpretation: Exceptional discrimination capability</a:t>
            </a:r>
          </a:p>
          <a:p>
            <a:pPr algn="just" marL="484132" indent="-161377" lvl="2">
              <a:lnSpc>
                <a:spcPts val="285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4100" y="5345050"/>
            <a:ext cx="7326512" cy="221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3"/>
              </a:lnSpc>
            </a:pPr>
            <a:r>
              <a:rPr lang="en-US" b="true" sz="2172" spc="128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KEY</a:t>
            </a:r>
            <a:r>
              <a:rPr lang="en-US" b="true" sz="2172" spc="128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INSIGHT:</a:t>
            </a:r>
          </a:p>
          <a:p>
            <a:pPr algn="just">
              <a:lnSpc>
                <a:spcPts val="2933"/>
              </a:lnSpc>
            </a:pPr>
            <a:r>
              <a:rPr lang="en-US" b="true" sz="2172" spc="128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Model is excellent at:</a:t>
            </a:r>
          </a:p>
          <a:p>
            <a:pPr algn="just" marL="469115" indent="-234557" lvl="1">
              <a:lnSpc>
                <a:spcPts val="2933"/>
              </a:lnSpc>
              <a:buAutoNum type="arabicPeriod" startAt="1"/>
            </a:pPr>
            <a:r>
              <a:rPr lang="en-US" sz="2172" spc="128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Identifying</a:t>
            </a:r>
            <a:r>
              <a:rPr lang="en-US" sz="2172" spc="128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losers (98.4%</a:t>
            </a:r>
            <a:r>
              <a:rPr lang="en-US" sz="2172" spc="128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precision)</a:t>
            </a:r>
          </a:p>
          <a:p>
            <a:pPr algn="just" marL="469115" indent="-234557" lvl="1">
              <a:lnSpc>
                <a:spcPts val="2933"/>
              </a:lnSpc>
              <a:buAutoNum type="arabicPeriod" startAt="1"/>
            </a:pPr>
            <a:r>
              <a:rPr lang="en-US" sz="2172" spc="128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Catching winner</a:t>
            </a:r>
            <a:r>
              <a:rPr lang="en-US" sz="2172" spc="128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s (98.6% recall) </a:t>
            </a:r>
          </a:p>
          <a:p>
            <a:pPr algn="just" marL="469115" indent="-234557" lvl="1">
              <a:lnSpc>
                <a:spcPts val="2933"/>
              </a:lnSpc>
              <a:buAutoNum type="arabicPeriod" startAt="1"/>
            </a:pPr>
            <a:r>
              <a:rPr lang="en-US" sz="2172" spc="129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Overall accuracy (94.69%)</a:t>
            </a:r>
          </a:p>
          <a:p>
            <a:pPr algn="just" marL="496781" indent="-165594" lvl="2">
              <a:lnSpc>
                <a:spcPts val="2933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21712" y="3877192"/>
            <a:ext cx="10649417" cy="5990190"/>
          </a:xfrm>
          <a:custGeom>
            <a:avLst/>
            <a:gdLst/>
            <a:ahLst/>
            <a:cxnLst/>
            <a:rect r="r" b="b" t="t" l="l"/>
            <a:pathLst>
              <a:path h="5990190" w="10649417">
                <a:moveTo>
                  <a:pt x="0" y="0"/>
                </a:moveTo>
                <a:lnTo>
                  <a:pt x="10649417" y="0"/>
                </a:lnTo>
                <a:lnTo>
                  <a:pt x="10649417" y="5990189"/>
                </a:lnTo>
                <a:lnTo>
                  <a:pt x="0" y="5990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3" t="0" r="-383" b="-76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8451" y="94050"/>
            <a:ext cx="15155940" cy="1115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76"/>
              </a:lnSpc>
              <a:spcBef>
                <a:spcPct val="0"/>
              </a:spcBef>
            </a:pPr>
            <a:r>
              <a:rPr lang="en-US" b="true" sz="6981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5.Future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8451" y="1640044"/>
            <a:ext cx="14920623" cy="69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0129" indent="-160043" lvl="2">
              <a:lnSpc>
                <a:spcPts val="2835"/>
              </a:lnSpc>
            </a:pPr>
            <a:r>
              <a:rPr lang="en-US" b="true" sz="2100" spc="125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</a:t>
            </a:r>
            <a:r>
              <a:rPr lang="en-US" b="true" sz="2100" spc="125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dvanced</a:t>
            </a:r>
            <a:r>
              <a:rPr lang="en-US" b="true" sz="2100" spc="125" u="none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Algorithm </a:t>
            </a:r>
            <a:r>
              <a:rPr lang="en-US" b="true" sz="2100" spc="125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Comparison: </a:t>
            </a:r>
            <a:r>
              <a:rPr lang="en-US" sz="2100" spc="125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XGBoost Implementation,LightGBM, Neural Networks, Support Vector Machines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45642"/>
            <a:ext cx="11807363" cy="175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35"/>
              </a:lnSpc>
            </a:pPr>
            <a:r>
              <a:rPr lang="en-US" b="true" sz="2100" spc="123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Future</a:t>
            </a:r>
            <a:r>
              <a:rPr lang="en-US" b="true" sz="2100" spc="123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Expansion: </a:t>
            </a:r>
          </a:p>
          <a:p>
            <a:pPr algn="just">
              <a:lnSpc>
                <a:spcPts val="2835"/>
              </a:lnSpc>
            </a:pPr>
            <a:r>
              <a:rPr lang="en-US" sz="2100" spc="123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1</a:t>
            </a:r>
            <a:r>
              <a:rPr lang="en-US" sz="2100" spc="123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.Duplicate voter detection systems: Related to #VoteChori Allegations</a:t>
            </a:r>
          </a:p>
          <a:p>
            <a:pPr algn="just">
              <a:lnSpc>
                <a:spcPts val="2835"/>
              </a:lnSpc>
            </a:pPr>
            <a:r>
              <a:rPr lang="en-US" sz="2100" spc="123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2.Social media sentiment analysis integration.</a:t>
            </a:r>
          </a:p>
          <a:p>
            <a:pPr algn="just">
              <a:lnSpc>
                <a:spcPts val="2835"/>
              </a:lnSpc>
            </a:pPr>
          </a:p>
          <a:p>
            <a:pPr algn="just" marL="480129" indent="-160043" lvl="2">
              <a:lnSpc>
                <a:spcPts val="2835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20082" y="-66675"/>
            <a:ext cx="12516513" cy="22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8"/>
              </a:lnSpc>
              <a:spcBef>
                <a:spcPct val="0"/>
              </a:spcBef>
            </a:pPr>
            <a:r>
              <a:rPr lang="en-US" b="true" sz="6921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6.Conclusions</a:t>
            </a:r>
          </a:p>
          <a:p>
            <a:pPr algn="ctr">
              <a:lnSpc>
                <a:spcPts val="899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75140" y="1721930"/>
            <a:ext cx="18303961" cy="615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b="true" sz="3000" spc="177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K</a:t>
            </a:r>
            <a:r>
              <a:rPr lang="en-US" b="true" sz="3000" spc="177">
                <a:solidFill>
                  <a:srgbClr val="494949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ey Achievements:</a:t>
            </a:r>
          </a:p>
          <a:p>
            <a:pPr algn="just">
              <a:lnSpc>
                <a:spcPts val="4050"/>
              </a:lnSpc>
            </a:pPr>
          </a:p>
          <a:p>
            <a:pPr algn="just">
              <a:lnSpc>
                <a:spcPts val="4050"/>
              </a:lnSpc>
            </a:pP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✓A</a:t>
            </a: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chieved 94.69% accu</a:t>
            </a:r>
            <a:r>
              <a:rPr lang="en-US" sz="3000" spc="177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racy with</a:t>
            </a: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3000" spc="177" u="none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R</a:t>
            </a: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andom Forest classifier</a:t>
            </a:r>
          </a:p>
          <a:p>
            <a:pPr algn="just">
              <a:lnSpc>
                <a:spcPts val="4050"/>
              </a:lnSpc>
            </a:pPr>
          </a:p>
          <a:p>
            <a:pPr algn="just">
              <a:lnSpc>
                <a:spcPts val="4050"/>
              </a:lnSpc>
            </a:pP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✓Exceptional ROC-AUC: 99.69% d</a:t>
            </a: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emonstrating sup</a:t>
            </a: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erior discrimination</a:t>
            </a:r>
          </a:p>
          <a:p>
            <a:pPr algn="just">
              <a:lnSpc>
                <a:spcPts val="4050"/>
              </a:lnSpc>
            </a:pPr>
          </a:p>
          <a:p>
            <a:pPr algn="just">
              <a:lnSpc>
                <a:spcPts val="4050"/>
              </a:lnSpc>
            </a:pP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✓Exc</a:t>
            </a: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ellent generalization: &lt;1% performance gap between CV and test sets</a:t>
            </a:r>
          </a:p>
          <a:p>
            <a:pPr algn="just">
              <a:lnSpc>
                <a:spcPts val="4050"/>
              </a:lnSpc>
            </a:pPr>
          </a:p>
          <a:p>
            <a:pPr algn="just">
              <a:lnSpc>
                <a:spcPts val="4050"/>
              </a:lnSpc>
            </a:pP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✓Co</a:t>
            </a: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mprehensive EDA wi</a:t>
            </a: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th 16+ visualizations identifying electoral </a:t>
            </a:r>
            <a:r>
              <a:rPr lang="en-US" sz="3000" spc="177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patterns</a:t>
            </a:r>
          </a:p>
          <a:p>
            <a:pPr algn="just">
              <a:lnSpc>
                <a:spcPts val="4050"/>
              </a:lnSpc>
            </a:pPr>
          </a:p>
          <a:p>
            <a:pPr algn="just">
              <a:lnSpc>
                <a:spcPts val="4050"/>
              </a:lnSpc>
            </a:pPr>
            <a:r>
              <a:rPr lang="en-US" sz="3000" spc="179">
                <a:solidFill>
                  <a:srgbClr val="494949"/>
                </a:solidFill>
                <a:latin typeface="Playpen Sans"/>
                <a:ea typeface="Playpen Sans"/>
                <a:cs typeface="Playpen Sans"/>
                <a:sym typeface="Playpen Sans"/>
              </a:rPr>
              <a:t>✓Robust framework established for advanced algorithm testing</a:t>
            </a:r>
          </a:p>
          <a:p>
            <a:pPr algn="just" marL="685899" indent="-228633" lvl="2">
              <a:lnSpc>
                <a:spcPts val="40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49158" y="7913164"/>
            <a:ext cx="15458361" cy="2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  <a:spcBef>
                <a:spcPct val="0"/>
              </a:spcBef>
            </a:pPr>
            <a:r>
              <a:rPr lang="en-US" b="true" sz="2237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Github:</a:t>
            </a:r>
            <a:r>
              <a:rPr lang="en-US" sz="2237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github.com/Vipul-Ai-eng/DATA-DRIVEN-INSIGHTS-AND-PREDICTION-OF-INDIA-S-2024-ELECTIONS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80" r="0" b="-708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61547" y="7836746"/>
            <a:ext cx="5713917" cy="57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sz="3600" spc="-204">
                <a:solidFill>
                  <a:srgbClr val="494949"/>
                </a:solidFill>
                <a:latin typeface="Finger Paint"/>
                <a:ea typeface="Finger Paint"/>
                <a:cs typeface="Finger Paint"/>
                <a:sym typeface="Finger Paint"/>
              </a:rPr>
              <a:t>THANK YOU VERY MUCH!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37682" y="1947249"/>
            <a:ext cx="5872804" cy="131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999" spc="-227">
                <a:solidFill>
                  <a:srgbClr val="494949"/>
                </a:solidFill>
                <a:latin typeface="Finger Paint"/>
                <a:ea typeface="Finger Paint"/>
                <a:cs typeface="Finger Paint"/>
                <a:sym typeface="Finger Paint"/>
              </a:rPr>
              <a:t>VOTE FOR SAFETY</a:t>
            </a:r>
          </a:p>
          <a:p>
            <a:pPr algn="ctr">
              <a:lnSpc>
                <a:spcPts val="53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80263"/>
            <a:ext cx="6851792" cy="64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999" spc="-227">
                <a:solidFill>
                  <a:srgbClr val="494949"/>
                </a:solidFill>
                <a:latin typeface="Finger Paint"/>
                <a:ea typeface="Finger Paint"/>
                <a:cs typeface="Finger Paint"/>
                <a:sym typeface="Finger Paint"/>
              </a:rPr>
              <a:t>VOTE FOR  EDUCATION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820521"/>
            <a:ext cx="6860167" cy="64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999" spc="-227">
                <a:solidFill>
                  <a:srgbClr val="494949"/>
                </a:solidFill>
                <a:latin typeface="Finger Paint"/>
                <a:ea typeface="Finger Paint"/>
                <a:cs typeface="Finger Paint"/>
                <a:sym typeface="Finger Paint"/>
              </a:rPr>
              <a:t>VOTE FOR FUTURE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56895" y="2130377"/>
            <a:ext cx="7287105" cy="64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999" spc="-227">
                <a:solidFill>
                  <a:srgbClr val="494949"/>
                </a:solidFill>
                <a:latin typeface="Finger Paint"/>
                <a:ea typeface="Finger Paint"/>
                <a:cs typeface="Finger Paint"/>
                <a:sym typeface="Finger Paint"/>
              </a:rPr>
              <a:t>VOTE FOR DEVELOPMENT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09048" y="5547647"/>
            <a:ext cx="8141816" cy="166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0"/>
              </a:lnSpc>
            </a:pPr>
            <a:r>
              <a:rPr lang="en-US" sz="5000" spc="-284">
                <a:solidFill>
                  <a:srgbClr val="494949"/>
                </a:solidFill>
                <a:latin typeface="Finger Paint"/>
                <a:ea typeface="Finger Paint"/>
                <a:cs typeface="Finger Paint"/>
                <a:sym typeface="Finger Paint"/>
              </a:rPr>
              <a:t>VOTE  FOR BETTER </a:t>
            </a:r>
          </a:p>
          <a:p>
            <a:pPr algn="ctr">
              <a:lnSpc>
                <a:spcPts val="6650"/>
              </a:lnSpc>
            </a:pPr>
            <a:r>
              <a:rPr lang="en-US" sz="5000" spc="-284">
                <a:solidFill>
                  <a:srgbClr val="FE9C57"/>
                </a:solidFill>
                <a:latin typeface="Finger Paint"/>
                <a:ea typeface="Finger Paint"/>
                <a:cs typeface="Finger Paint"/>
                <a:sym typeface="Finger Paint"/>
              </a:rPr>
              <a:t>IN</a:t>
            </a:r>
            <a:r>
              <a:rPr lang="en-US" sz="5000" spc="-284">
                <a:solidFill>
                  <a:srgbClr val="5170FF"/>
                </a:solidFill>
                <a:latin typeface="Finger Paint"/>
                <a:ea typeface="Finger Paint"/>
                <a:cs typeface="Finger Paint"/>
                <a:sym typeface="Finger Paint"/>
              </a:rPr>
              <a:t>DI</a:t>
            </a:r>
            <a:r>
              <a:rPr lang="en-US" sz="5000" spc="-284">
                <a:solidFill>
                  <a:srgbClr val="648E38"/>
                </a:solidFill>
                <a:latin typeface="Finger Paint"/>
                <a:ea typeface="Finger Paint"/>
                <a:cs typeface="Finger Paint"/>
                <a:sym typeface="Finger Paint"/>
              </a:rPr>
              <a:t>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61547" y="311390"/>
            <a:ext cx="4677515" cy="64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999" spc="-227">
                <a:solidFill>
                  <a:srgbClr val="494949"/>
                </a:solidFill>
                <a:latin typeface="Finger Paint"/>
                <a:ea typeface="Finger Paint"/>
                <a:cs typeface="Finger Paint"/>
                <a:sym typeface="Finger Paint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DAG04l8Ps54</dc:identifier>
  <dcterms:modified xsi:type="dcterms:W3CDTF">2011-08-01T06:04:30Z</dcterms:modified>
  <cp:revision>1</cp:revision>
  <dc:title>Data-Driven Insights and Prediction of india's 2024 Election.pptx</dc:title>
</cp:coreProperties>
</file>